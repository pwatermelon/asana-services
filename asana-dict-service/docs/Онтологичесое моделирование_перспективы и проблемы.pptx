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82" r:id="rId2"/>
    <p:sldId id="357" r:id="rId3"/>
    <p:sldId id="317" r:id="rId4"/>
    <p:sldId id="318" r:id="rId5"/>
    <p:sldId id="356" r:id="rId6"/>
    <p:sldId id="374" r:id="rId7"/>
    <p:sldId id="375" r:id="rId8"/>
    <p:sldId id="363" r:id="rId9"/>
    <p:sldId id="378" r:id="rId10"/>
    <p:sldId id="376" r:id="rId11"/>
    <p:sldId id="338" r:id="rId12"/>
    <p:sldId id="340" r:id="rId13"/>
    <p:sldId id="285" r:id="rId14"/>
    <p:sldId id="304" r:id="rId15"/>
    <p:sldId id="350" r:id="rId16"/>
    <p:sldId id="379" r:id="rId17"/>
    <p:sldId id="346" r:id="rId18"/>
    <p:sldId id="348" r:id="rId19"/>
    <p:sldId id="349" r:id="rId20"/>
    <p:sldId id="351" r:id="rId21"/>
    <p:sldId id="347" r:id="rId22"/>
    <p:sldId id="381" r:id="rId23"/>
    <p:sldId id="380" r:id="rId2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51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E7DC83-EB69-064F-A07B-C944FF42D658}" type="doc">
      <dgm:prSet loTypeId="urn:microsoft.com/office/officeart/2005/8/layout/cycle5" loCatId="cycle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1E3401C3-ED8D-9C45-AC7A-C7B2C730D958}">
      <dgm:prSet phldrT="[Text]" custT="1"/>
      <dgm:spPr/>
      <dgm:t>
        <a:bodyPr/>
        <a:lstStyle/>
        <a:p>
          <a:r>
            <a:rPr lang="ru-RU" sz="1100" dirty="0" smtClean="0"/>
            <a:t>Анализ требований и предметной области</a:t>
          </a:r>
          <a:endParaRPr lang="en-US" sz="1100" dirty="0"/>
        </a:p>
      </dgm:t>
    </dgm:pt>
    <dgm:pt modelId="{9C24F856-E138-D844-8934-8B3B000A75E1}" type="parTrans" cxnId="{318250C9-2D21-F649-92F4-D17006FE50A8}">
      <dgm:prSet/>
      <dgm:spPr/>
      <dgm:t>
        <a:bodyPr/>
        <a:lstStyle/>
        <a:p>
          <a:endParaRPr lang="en-US" sz="1100"/>
        </a:p>
      </dgm:t>
    </dgm:pt>
    <dgm:pt modelId="{0C1C19E2-1F3B-5E42-80A3-058BDBDD0730}" type="sibTrans" cxnId="{318250C9-2D21-F649-92F4-D17006FE50A8}">
      <dgm:prSet/>
      <dgm:spPr/>
      <dgm:t>
        <a:bodyPr/>
        <a:lstStyle/>
        <a:p>
          <a:endParaRPr lang="en-US" sz="1100"/>
        </a:p>
      </dgm:t>
    </dgm:pt>
    <dgm:pt modelId="{FF1AB7F0-EBBE-DC46-8C8B-2C10BD1B122A}">
      <dgm:prSet phldrT="[Text]" custT="1"/>
      <dgm:spPr/>
      <dgm:t>
        <a:bodyPr/>
        <a:lstStyle/>
        <a:p>
          <a:r>
            <a:rPr lang="ru-RU" sz="1100" dirty="0" smtClean="0"/>
            <a:t>Определение назначения и масштаба онтологии</a:t>
          </a:r>
          <a:endParaRPr lang="en-US" sz="1100" dirty="0"/>
        </a:p>
      </dgm:t>
    </dgm:pt>
    <dgm:pt modelId="{05263154-768F-0444-A36C-0C6DC8D5ECAA}" type="parTrans" cxnId="{F0136287-D2BB-614D-93A3-AF68C66DB51E}">
      <dgm:prSet/>
      <dgm:spPr/>
      <dgm:t>
        <a:bodyPr/>
        <a:lstStyle/>
        <a:p>
          <a:endParaRPr lang="en-US" sz="1100"/>
        </a:p>
      </dgm:t>
    </dgm:pt>
    <dgm:pt modelId="{AD1D3BF3-8A1C-9D43-AD81-8A237B995C09}" type="sibTrans" cxnId="{F0136287-D2BB-614D-93A3-AF68C66DB51E}">
      <dgm:prSet/>
      <dgm:spPr/>
      <dgm:t>
        <a:bodyPr/>
        <a:lstStyle/>
        <a:p>
          <a:endParaRPr lang="en-US" sz="1100"/>
        </a:p>
      </dgm:t>
    </dgm:pt>
    <dgm:pt modelId="{FBD20118-3376-544F-B3CB-7CC2A737C74B}">
      <dgm:prSet phldrT="[Text]" custT="1"/>
      <dgm:spPr/>
      <dgm:t>
        <a:bodyPr/>
        <a:lstStyle/>
        <a:p>
          <a:r>
            <a:rPr lang="ru-RU" sz="1400" b="1" dirty="0" smtClean="0">
              <a:solidFill>
                <a:srgbClr val="FF0000"/>
              </a:solidFill>
            </a:rPr>
            <a:t>Рассмотрение возможности повторного использования онтологий </a:t>
          </a:r>
          <a:endParaRPr lang="en-US" sz="1400" b="1" dirty="0">
            <a:solidFill>
              <a:srgbClr val="FF0000"/>
            </a:solidFill>
          </a:endParaRPr>
        </a:p>
      </dgm:t>
    </dgm:pt>
    <dgm:pt modelId="{897BE425-C70E-6040-9DD1-C42C3FCB2479}" type="parTrans" cxnId="{20C70A2B-4BA9-1D4F-BBF0-E3CB607AB680}">
      <dgm:prSet/>
      <dgm:spPr/>
      <dgm:t>
        <a:bodyPr/>
        <a:lstStyle/>
        <a:p>
          <a:endParaRPr lang="en-US" sz="1100"/>
        </a:p>
      </dgm:t>
    </dgm:pt>
    <dgm:pt modelId="{2345C6DB-46BB-6B4B-BC76-57523CE888C1}" type="sibTrans" cxnId="{20C70A2B-4BA9-1D4F-BBF0-E3CB607AB680}">
      <dgm:prSet/>
      <dgm:spPr/>
      <dgm:t>
        <a:bodyPr/>
        <a:lstStyle/>
        <a:p>
          <a:endParaRPr lang="en-US" sz="1100"/>
        </a:p>
      </dgm:t>
    </dgm:pt>
    <dgm:pt modelId="{3D81719E-B54C-704F-A45C-8338A5C963BF}">
      <dgm:prSet custT="1"/>
      <dgm:spPr/>
      <dgm:t>
        <a:bodyPr/>
        <a:lstStyle/>
        <a:p>
          <a:r>
            <a:rPr lang="ru-RU" sz="1100" dirty="0" smtClean="0"/>
            <a:t>Перечисление терминов</a:t>
          </a:r>
          <a:endParaRPr lang="en-US" sz="1100" dirty="0"/>
        </a:p>
      </dgm:t>
    </dgm:pt>
    <dgm:pt modelId="{AC63AAA1-7B86-6042-93FA-266529111EA6}" type="parTrans" cxnId="{8A5353ED-2FA0-D14C-BFFE-C2491AD35246}">
      <dgm:prSet/>
      <dgm:spPr/>
      <dgm:t>
        <a:bodyPr/>
        <a:lstStyle/>
        <a:p>
          <a:endParaRPr lang="en-US" sz="1100"/>
        </a:p>
      </dgm:t>
    </dgm:pt>
    <dgm:pt modelId="{4B047837-F514-5441-A80D-DD549133D60C}" type="sibTrans" cxnId="{8A5353ED-2FA0-D14C-BFFE-C2491AD35246}">
      <dgm:prSet/>
      <dgm:spPr/>
      <dgm:t>
        <a:bodyPr/>
        <a:lstStyle/>
        <a:p>
          <a:endParaRPr lang="en-US" sz="1100"/>
        </a:p>
      </dgm:t>
    </dgm:pt>
    <dgm:pt modelId="{D7E10280-2903-5A45-9ABE-48161082184E}">
      <dgm:prSet custT="1"/>
      <dgm:spPr/>
      <dgm:t>
        <a:bodyPr/>
        <a:lstStyle/>
        <a:p>
          <a:r>
            <a:rPr lang="ru-RU" sz="1100" dirty="0" smtClean="0"/>
            <a:t>Определение иерархий классов и свойств</a:t>
          </a:r>
          <a:endParaRPr lang="en-US" sz="1100" dirty="0"/>
        </a:p>
      </dgm:t>
    </dgm:pt>
    <dgm:pt modelId="{33E9DEE9-0F1B-5A4F-9924-524A36FC7907}" type="parTrans" cxnId="{E61DA84E-6F9B-1040-B981-3550174E6922}">
      <dgm:prSet/>
      <dgm:spPr/>
      <dgm:t>
        <a:bodyPr/>
        <a:lstStyle/>
        <a:p>
          <a:endParaRPr lang="en-US" sz="1100"/>
        </a:p>
      </dgm:t>
    </dgm:pt>
    <dgm:pt modelId="{E7B22E62-CF3F-F74B-A172-1106D86CD259}" type="sibTrans" cxnId="{E61DA84E-6F9B-1040-B981-3550174E6922}">
      <dgm:prSet/>
      <dgm:spPr/>
      <dgm:t>
        <a:bodyPr/>
        <a:lstStyle/>
        <a:p>
          <a:endParaRPr lang="en-US" sz="1100"/>
        </a:p>
      </dgm:t>
    </dgm:pt>
    <dgm:pt modelId="{EA9497A7-D567-8A4A-9D9F-EFCA5AF2AE26}">
      <dgm:prSet custT="1"/>
      <dgm:spPr/>
      <dgm:t>
        <a:bodyPr/>
        <a:lstStyle/>
        <a:p>
          <a:r>
            <a:rPr lang="ru-RU" sz="1100" dirty="0" smtClean="0"/>
            <a:t>Определение ограничений</a:t>
          </a:r>
          <a:endParaRPr lang="en-US" sz="1100" dirty="0"/>
        </a:p>
      </dgm:t>
    </dgm:pt>
    <dgm:pt modelId="{85185F0D-1DDC-8C44-9E90-C9AB81F9600A}" type="parTrans" cxnId="{B41BAB4B-52A0-4944-B2B3-8BEBD985D0F3}">
      <dgm:prSet/>
      <dgm:spPr/>
      <dgm:t>
        <a:bodyPr/>
        <a:lstStyle/>
        <a:p>
          <a:endParaRPr lang="en-US" sz="1100"/>
        </a:p>
      </dgm:t>
    </dgm:pt>
    <dgm:pt modelId="{9A714559-CC45-2F45-93DF-C3772EAF58AF}" type="sibTrans" cxnId="{B41BAB4B-52A0-4944-B2B3-8BEBD985D0F3}">
      <dgm:prSet/>
      <dgm:spPr/>
      <dgm:t>
        <a:bodyPr/>
        <a:lstStyle/>
        <a:p>
          <a:endParaRPr lang="en-US" sz="1100"/>
        </a:p>
      </dgm:t>
    </dgm:pt>
    <dgm:pt modelId="{9339CD8B-CDCA-704B-9D2A-16A1BF63B5F4}">
      <dgm:prSet custT="1"/>
      <dgm:spPr/>
      <dgm:t>
        <a:bodyPr/>
        <a:lstStyle/>
        <a:p>
          <a:r>
            <a:rPr lang="ru-RU" sz="1400" b="1" dirty="0" smtClean="0">
              <a:solidFill>
                <a:srgbClr val="FF0000"/>
              </a:solidFill>
            </a:rPr>
            <a:t>Наполнение онтологии (Добавление индивидов)</a:t>
          </a:r>
          <a:endParaRPr lang="en-US" sz="1400" b="1" dirty="0">
            <a:solidFill>
              <a:srgbClr val="FF0000"/>
            </a:solidFill>
          </a:endParaRPr>
        </a:p>
      </dgm:t>
    </dgm:pt>
    <dgm:pt modelId="{8862DA6C-F621-8446-8CF5-5587B3E6898E}" type="parTrans" cxnId="{AB236D1B-A3AD-AD4B-9D1E-790665C0EF77}">
      <dgm:prSet/>
      <dgm:spPr/>
      <dgm:t>
        <a:bodyPr/>
        <a:lstStyle/>
        <a:p>
          <a:endParaRPr lang="en-US" sz="1100"/>
        </a:p>
      </dgm:t>
    </dgm:pt>
    <dgm:pt modelId="{D5911DBD-FDA9-A146-AC68-80AFEEBAC141}" type="sibTrans" cxnId="{AB236D1B-A3AD-AD4B-9D1E-790665C0EF77}">
      <dgm:prSet/>
      <dgm:spPr/>
      <dgm:t>
        <a:bodyPr/>
        <a:lstStyle/>
        <a:p>
          <a:endParaRPr lang="en-US" sz="1100"/>
        </a:p>
      </dgm:t>
    </dgm:pt>
    <dgm:pt modelId="{6DAC44A4-946D-AD49-BAA8-8B99CC71CD66}" type="pres">
      <dgm:prSet presAssocID="{F9E7DC83-EB69-064F-A07B-C944FF42D658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217B846-B20F-FC4F-A2C2-9E06271587E6}" type="pres">
      <dgm:prSet presAssocID="{1E3401C3-ED8D-9C45-AC7A-C7B2C730D958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37BAF7-2EE6-EE47-AB37-D0E38CAEA4EB}" type="pres">
      <dgm:prSet presAssocID="{1E3401C3-ED8D-9C45-AC7A-C7B2C730D958}" presName="spNode" presStyleCnt="0"/>
      <dgm:spPr/>
    </dgm:pt>
    <dgm:pt modelId="{76E6319D-5DED-F444-ABDC-CE84FDB5AF24}" type="pres">
      <dgm:prSet presAssocID="{0C1C19E2-1F3B-5E42-80A3-058BDBDD0730}" presName="sibTrans" presStyleLbl="sibTrans1D1" presStyleIdx="0" presStyleCnt="7"/>
      <dgm:spPr/>
      <dgm:t>
        <a:bodyPr/>
        <a:lstStyle/>
        <a:p>
          <a:endParaRPr lang="en-US"/>
        </a:p>
      </dgm:t>
    </dgm:pt>
    <dgm:pt modelId="{8D601C68-2A45-454E-BD52-8E36C30D84C0}" type="pres">
      <dgm:prSet presAssocID="{FF1AB7F0-EBBE-DC46-8C8B-2C10BD1B122A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80D1E3-B067-C049-B86B-F266C12A6B75}" type="pres">
      <dgm:prSet presAssocID="{FF1AB7F0-EBBE-DC46-8C8B-2C10BD1B122A}" presName="spNode" presStyleCnt="0"/>
      <dgm:spPr/>
    </dgm:pt>
    <dgm:pt modelId="{E65257BA-B332-8149-B312-3D773D6091D5}" type="pres">
      <dgm:prSet presAssocID="{AD1D3BF3-8A1C-9D43-AD81-8A237B995C09}" presName="sibTrans" presStyleLbl="sibTrans1D1" presStyleIdx="1" presStyleCnt="7"/>
      <dgm:spPr/>
      <dgm:t>
        <a:bodyPr/>
        <a:lstStyle/>
        <a:p>
          <a:endParaRPr lang="en-US"/>
        </a:p>
      </dgm:t>
    </dgm:pt>
    <dgm:pt modelId="{434599DA-508C-FE43-9CB8-F1A2EC92A64D}" type="pres">
      <dgm:prSet presAssocID="{FBD20118-3376-544F-B3CB-7CC2A737C74B}" presName="node" presStyleLbl="node1" presStyleIdx="2" presStyleCnt="7" custScaleX="122456" custScaleY="1105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D0680D-9E8A-2B41-B296-DBFF2382E2C8}" type="pres">
      <dgm:prSet presAssocID="{FBD20118-3376-544F-B3CB-7CC2A737C74B}" presName="spNode" presStyleCnt="0"/>
      <dgm:spPr/>
    </dgm:pt>
    <dgm:pt modelId="{DED26FAA-266F-E043-B762-1BE7ABB3AEB6}" type="pres">
      <dgm:prSet presAssocID="{2345C6DB-46BB-6B4B-BC76-57523CE888C1}" presName="sibTrans" presStyleLbl="sibTrans1D1" presStyleIdx="2" presStyleCnt="7"/>
      <dgm:spPr/>
      <dgm:t>
        <a:bodyPr/>
        <a:lstStyle/>
        <a:p>
          <a:endParaRPr lang="en-US"/>
        </a:p>
      </dgm:t>
    </dgm:pt>
    <dgm:pt modelId="{9155D60B-7FBD-C141-B8F8-79F6C00D455D}" type="pres">
      <dgm:prSet presAssocID="{3D81719E-B54C-704F-A45C-8338A5C963BF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315AC1-EE74-6343-955F-18B10D134E1D}" type="pres">
      <dgm:prSet presAssocID="{3D81719E-B54C-704F-A45C-8338A5C963BF}" presName="spNode" presStyleCnt="0"/>
      <dgm:spPr/>
    </dgm:pt>
    <dgm:pt modelId="{7C4B19D4-9C80-5344-9678-C555C8F32ADC}" type="pres">
      <dgm:prSet presAssocID="{4B047837-F514-5441-A80D-DD549133D60C}" presName="sibTrans" presStyleLbl="sibTrans1D1" presStyleIdx="3" presStyleCnt="7"/>
      <dgm:spPr/>
      <dgm:t>
        <a:bodyPr/>
        <a:lstStyle/>
        <a:p>
          <a:endParaRPr lang="en-US"/>
        </a:p>
      </dgm:t>
    </dgm:pt>
    <dgm:pt modelId="{781F0373-7C86-4741-A18F-7950FE58F8C4}" type="pres">
      <dgm:prSet presAssocID="{D7E10280-2903-5A45-9ABE-48161082184E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073F0B-70E0-4A41-B0D6-2AE7DB141284}" type="pres">
      <dgm:prSet presAssocID="{D7E10280-2903-5A45-9ABE-48161082184E}" presName="spNode" presStyleCnt="0"/>
      <dgm:spPr/>
    </dgm:pt>
    <dgm:pt modelId="{D51B85C4-A66E-AC4F-BE0A-6CC8CBF154D1}" type="pres">
      <dgm:prSet presAssocID="{E7B22E62-CF3F-F74B-A172-1106D86CD259}" presName="sibTrans" presStyleLbl="sibTrans1D1" presStyleIdx="4" presStyleCnt="7"/>
      <dgm:spPr/>
      <dgm:t>
        <a:bodyPr/>
        <a:lstStyle/>
        <a:p>
          <a:endParaRPr lang="en-US"/>
        </a:p>
      </dgm:t>
    </dgm:pt>
    <dgm:pt modelId="{0F2C9D08-106A-EE46-971C-C45C20C5137A}" type="pres">
      <dgm:prSet presAssocID="{EA9497A7-D567-8A4A-9D9F-EFCA5AF2AE26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903AAD-722B-8043-ACE5-9512D4F943DA}" type="pres">
      <dgm:prSet presAssocID="{EA9497A7-D567-8A4A-9D9F-EFCA5AF2AE26}" presName="spNode" presStyleCnt="0"/>
      <dgm:spPr/>
    </dgm:pt>
    <dgm:pt modelId="{5BC9DACA-9C91-4249-9980-0502D8173007}" type="pres">
      <dgm:prSet presAssocID="{9A714559-CC45-2F45-93DF-C3772EAF58AF}" presName="sibTrans" presStyleLbl="sibTrans1D1" presStyleIdx="5" presStyleCnt="7"/>
      <dgm:spPr/>
      <dgm:t>
        <a:bodyPr/>
        <a:lstStyle/>
        <a:p>
          <a:endParaRPr lang="en-US"/>
        </a:p>
      </dgm:t>
    </dgm:pt>
    <dgm:pt modelId="{2B65AAC4-B7E8-5746-8E67-F26D80203B35}" type="pres">
      <dgm:prSet presAssocID="{9339CD8B-CDCA-704B-9D2A-16A1BF63B5F4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CBFF1BB-F136-2B4F-9861-A74689EEE698}" type="pres">
      <dgm:prSet presAssocID="{9339CD8B-CDCA-704B-9D2A-16A1BF63B5F4}" presName="spNode" presStyleCnt="0"/>
      <dgm:spPr/>
    </dgm:pt>
    <dgm:pt modelId="{E93F9943-929B-384C-BCDE-2FCC584CEF6B}" type="pres">
      <dgm:prSet presAssocID="{D5911DBD-FDA9-A146-AC68-80AFEEBAC141}" presName="sibTrans" presStyleLbl="sibTrans1D1" presStyleIdx="6" presStyleCnt="7"/>
      <dgm:spPr/>
      <dgm:t>
        <a:bodyPr/>
        <a:lstStyle/>
        <a:p>
          <a:endParaRPr lang="en-US"/>
        </a:p>
      </dgm:t>
    </dgm:pt>
  </dgm:ptLst>
  <dgm:cxnLst>
    <dgm:cxn modelId="{8F04CDCD-C060-4EEF-A7F4-DF5B5D92AFB9}" type="presOf" srcId="{0C1C19E2-1F3B-5E42-80A3-058BDBDD0730}" destId="{76E6319D-5DED-F444-ABDC-CE84FDB5AF24}" srcOrd="0" destOrd="0" presId="urn:microsoft.com/office/officeart/2005/8/layout/cycle5"/>
    <dgm:cxn modelId="{5222DD39-620D-403A-9FAC-7A5BA5A4CF3A}" type="presOf" srcId="{EA9497A7-D567-8A4A-9D9F-EFCA5AF2AE26}" destId="{0F2C9D08-106A-EE46-971C-C45C20C5137A}" srcOrd="0" destOrd="0" presId="urn:microsoft.com/office/officeart/2005/8/layout/cycle5"/>
    <dgm:cxn modelId="{1430D418-86F7-4647-B112-4A157EAEED0F}" type="presOf" srcId="{3D81719E-B54C-704F-A45C-8338A5C963BF}" destId="{9155D60B-7FBD-C141-B8F8-79F6C00D455D}" srcOrd="0" destOrd="0" presId="urn:microsoft.com/office/officeart/2005/8/layout/cycle5"/>
    <dgm:cxn modelId="{F0136287-D2BB-614D-93A3-AF68C66DB51E}" srcId="{F9E7DC83-EB69-064F-A07B-C944FF42D658}" destId="{FF1AB7F0-EBBE-DC46-8C8B-2C10BD1B122A}" srcOrd="1" destOrd="0" parTransId="{05263154-768F-0444-A36C-0C6DC8D5ECAA}" sibTransId="{AD1D3BF3-8A1C-9D43-AD81-8A237B995C09}"/>
    <dgm:cxn modelId="{0A7442DC-8029-46EE-9376-F040A9A8DF84}" type="presOf" srcId="{9A714559-CC45-2F45-93DF-C3772EAF58AF}" destId="{5BC9DACA-9C91-4249-9980-0502D8173007}" srcOrd="0" destOrd="0" presId="urn:microsoft.com/office/officeart/2005/8/layout/cycle5"/>
    <dgm:cxn modelId="{E362C6BD-E721-4FA4-8569-DE4C9AF0E836}" type="presOf" srcId="{1E3401C3-ED8D-9C45-AC7A-C7B2C730D958}" destId="{7217B846-B20F-FC4F-A2C2-9E06271587E6}" srcOrd="0" destOrd="0" presId="urn:microsoft.com/office/officeart/2005/8/layout/cycle5"/>
    <dgm:cxn modelId="{DFBDCE58-82C2-4C65-BACA-62229732BBC3}" type="presOf" srcId="{FF1AB7F0-EBBE-DC46-8C8B-2C10BD1B122A}" destId="{8D601C68-2A45-454E-BD52-8E36C30D84C0}" srcOrd="0" destOrd="0" presId="urn:microsoft.com/office/officeart/2005/8/layout/cycle5"/>
    <dgm:cxn modelId="{20C70A2B-4BA9-1D4F-BBF0-E3CB607AB680}" srcId="{F9E7DC83-EB69-064F-A07B-C944FF42D658}" destId="{FBD20118-3376-544F-B3CB-7CC2A737C74B}" srcOrd="2" destOrd="0" parTransId="{897BE425-C70E-6040-9DD1-C42C3FCB2479}" sibTransId="{2345C6DB-46BB-6B4B-BC76-57523CE888C1}"/>
    <dgm:cxn modelId="{EB124B98-FD9C-4C19-80A3-6F66577301FE}" type="presOf" srcId="{4B047837-F514-5441-A80D-DD549133D60C}" destId="{7C4B19D4-9C80-5344-9678-C555C8F32ADC}" srcOrd="0" destOrd="0" presId="urn:microsoft.com/office/officeart/2005/8/layout/cycle5"/>
    <dgm:cxn modelId="{0148B15E-EBA5-48E3-9D3C-FCC86D51DA68}" type="presOf" srcId="{AD1D3BF3-8A1C-9D43-AD81-8A237B995C09}" destId="{E65257BA-B332-8149-B312-3D773D6091D5}" srcOrd="0" destOrd="0" presId="urn:microsoft.com/office/officeart/2005/8/layout/cycle5"/>
    <dgm:cxn modelId="{D9083D3E-6C4A-4874-BC34-A8663A50EFD6}" type="presOf" srcId="{2345C6DB-46BB-6B4B-BC76-57523CE888C1}" destId="{DED26FAA-266F-E043-B762-1BE7ABB3AEB6}" srcOrd="0" destOrd="0" presId="urn:microsoft.com/office/officeart/2005/8/layout/cycle5"/>
    <dgm:cxn modelId="{596308C8-2A4E-40D0-B698-7CD1B3711377}" type="presOf" srcId="{F9E7DC83-EB69-064F-A07B-C944FF42D658}" destId="{6DAC44A4-946D-AD49-BAA8-8B99CC71CD66}" srcOrd="0" destOrd="0" presId="urn:microsoft.com/office/officeart/2005/8/layout/cycle5"/>
    <dgm:cxn modelId="{AB236D1B-A3AD-AD4B-9D1E-790665C0EF77}" srcId="{F9E7DC83-EB69-064F-A07B-C944FF42D658}" destId="{9339CD8B-CDCA-704B-9D2A-16A1BF63B5F4}" srcOrd="6" destOrd="0" parTransId="{8862DA6C-F621-8446-8CF5-5587B3E6898E}" sibTransId="{D5911DBD-FDA9-A146-AC68-80AFEEBAC141}"/>
    <dgm:cxn modelId="{71033A92-4162-473F-BEEF-2B8F065F8EB9}" type="presOf" srcId="{D5911DBD-FDA9-A146-AC68-80AFEEBAC141}" destId="{E93F9943-929B-384C-BCDE-2FCC584CEF6B}" srcOrd="0" destOrd="0" presId="urn:microsoft.com/office/officeart/2005/8/layout/cycle5"/>
    <dgm:cxn modelId="{A515502A-FC6A-4349-BFD3-4FCFED80BB58}" type="presOf" srcId="{E7B22E62-CF3F-F74B-A172-1106D86CD259}" destId="{D51B85C4-A66E-AC4F-BE0A-6CC8CBF154D1}" srcOrd="0" destOrd="0" presId="urn:microsoft.com/office/officeart/2005/8/layout/cycle5"/>
    <dgm:cxn modelId="{6B580998-1216-4590-A769-E85D741876BB}" type="presOf" srcId="{D7E10280-2903-5A45-9ABE-48161082184E}" destId="{781F0373-7C86-4741-A18F-7950FE58F8C4}" srcOrd="0" destOrd="0" presId="urn:microsoft.com/office/officeart/2005/8/layout/cycle5"/>
    <dgm:cxn modelId="{1B4A62A0-0ACD-4C9F-B3CA-16BF4160A3D4}" type="presOf" srcId="{9339CD8B-CDCA-704B-9D2A-16A1BF63B5F4}" destId="{2B65AAC4-B7E8-5746-8E67-F26D80203B35}" srcOrd="0" destOrd="0" presId="urn:microsoft.com/office/officeart/2005/8/layout/cycle5"/>
    <dgm:cxn modelId="{318250C9-2D21-F649-92F4-D17006FE50A8}" srcId="{F9E7DC83-EB69-064F-A07B-C944FF42D658}" destId="{1E3401C3-ED8D-9C45-AC7A-C7B2C730D958}" srcOrd="0" destOrd="0" parTransId="{9C24F856-E138-D844-8934-8B3B000A75E1}" sibTransId="{0C1C19E2-1F3B-5E42-80A3-058BDBDD0730}"/>
    <dgm:cxn modelId="{B41BAB4B-52A0-4944-B2B3-8BEBD985D0F3}" srcId="{F9E7DC83-EB69-064F-A07B-C944FF42D658}" destId="{EA9497A7-D567-8A4A-9D9F-EFCA5AF2AE26}" srcOrd="5" destOrd="0" parTransId="{85185F0D-1DDC-8C44-9E90-C9AB81F9600A}" sibTransId="{9A714559-CC45-2F45-93DF-C3772EAF58AF}"/>
    <dgm:cxn modelId="{AB4BB3B5-CECD-4005-9477-F606F6D77E87}" type="presOf" srcId="{FBD20118-3376-544F-B3CB-7CC2A737C74B}" destId="{434599DA-508C-FE43-9CB8-F1A2EC92A64D}" srcOrd="0" destOrd="0" presId="urn:microsoft.com/office/officeart/2005/8/layout/cycle5"/>
    <dgm:cxn modelId="{8A5353ED-2FA0-D14C-BFFE-C2491AD35246}" srcId="{F9E7DC83-EB69-064F-A07B-C944FF42D658}" destId="{3D81719E-B54C-704F-A45C-8338A5C963BF}" srcOrd="3" destOrd="0" parTransId="{AC63AAA1-7B86-6042-93FA-266529111EA6}" sibTransId="{4B047837-F514-5441-A80D-DD549133D60C}"/>
    <dgm:cxn modelId="{E61DA84E-6F9B-1040-B981-3550174E6922}" srcId="{F9E7DC83-EB69-064F-A07B-C944FF42D658}" destId="{D7E10280-2903-5A45-9ABE-48161082184E}" srcOrd="4" destOrd="0" parTransId="{33E9DEE9-0F1B-5A4F-9924-524A36FC7907}" sibTransId="{E7B22E62-CF3F-F74B-A172-1106D86CD259}"/>
    <dgm:cxn modelId="{FC3788D3-64B9-47BC-A58D-55CD5E07CFFD}" type="presParOf" srcId="{6DAC44A4-946D-AD49-BAA8-8B99CC71CD66}" destId="{7217B846-B20F-FC4F-A2C2-9E06271587E6}" srcOrd="0" destOrd="0" presId="urn:microsoft.com/office/officeart/2005/8/layout/cycle5"/>
    <dgm:cxn modelId="{E9B10865-A6FD-4EBA-B6A0-3A3E3EEF4A57}" type="presParOf" srcId="{6DAC44A4-946D-AD49-BAA8-8B99CC71CD66}" destId="{6037BAF7-2EE6-EE47-AB37-D0E38CAEA4EB}" srcOrd="1" destOrd="0" presId="urn:microsoft.com/office/officeart/2005/8/layout/cycle5"/>
    <dgm:cxn modelId="{D8B96927-CE38-40B5-A144-A10BE948DF1E}" type="presParOf" srcId="{6DAC44A4-946D-AD49-BAA8-8B99CC71CD66}" destId="{76E6319D-5DED-F444-ABDC-CE84FDB5AF24}" srcOrd="2" destOrd="0" presId="urn:microsoft.com/office/officeart/2005/8/layout/cycle5"/>
    <dgm:cxn modelId="{B3958F6A-5B02-4C22-8A94-F552BDCA43FA}" type="presParOf" srcId="{6DAC44A4-946D-AD49-BAA8-8B99CC71CD66}" destId="{8D601C68-2A45-454E-BD52-8E36C30D84C0}" srcOrd="3" destOrd="0" presId="urn:microsoft.com/office/officeart/2005/8/layout/cycle5"/>
    <dgm:cxn modelId="{28FDC340-E1C8-4C51-AD70-7622E109FD2B}" type="presParOf" srcId="{6DAC44A4-946D-AD49-BAA8-8B99CC71CD66}" destId="{7C80D1E3-B067-C049-B86B-F266C12A6B75}" srcOrd="4" destOrd="0" presId="urn:microsoft.com/office/officeart/2005/8/layout/cycle5"/>
    <dgm:cxn modelId="{E0FDB1F5-85BC-438D-8630-557462CE10B9}" type="presParOf" srcId="{6DAC44A4-946D-AD49-BAA8-8B99CC71CD66}" destId="{E65257BA-B332-8149-B312-3D773D6091D5}" srcOrd="5" destOrd="0" presId="urn:microsoft.com/office/officeart/2005/8/layout/cycle5"/>
    <dgm:cxn modelId="{E1D2E700-DC39-4947-B1BF-DD129312C3D2}" type="presParOf" srcId="{6DAC44A4-946D-AD49-BAA8-8B99CC71CD66}" destId="{434599DA-508C-FE43-9CB8-F1A2EC92A64D}" srcOrd="6" destOrd="0" presId="urn:microsoft.com/office/officeart/2005/8/layout/cycle5"/>
    <dgm:cxn modelId="{D46C8921-3D0A-43CA-9F8F-4FB5795F11DA}" type="presParOf" srcId="{6DAC44A4-946D-AD49-BAA8-8B99CC71CD66}" destId="{14D0680D-9E8A-2B41-B296-DBFF2382E2C8}" srcOrd="7" destOrd="0" presId="urn:microsoft.com/office/officeart/2005/8/layout/cycle5"/>
    <dgm:cxn modelId="{7AEAE6D6-CCA4-4A8F-B53C-45737B53CC13}" type="presParOf" srcId="{6DAC44A4-946D-AD49-BAA8-8B99CC71CD66}" destId="{DED26FAA-266F-E043-B762-1BE7ABB3AEB6}" srcOrd="8" destOrd="0" presId="urn:microsoft.com/office/officeart/2005/8/layout/cycle5"/>
    <dgm:cxn modelId="{2E42916D-3C9E-418C-A3F1-41F8DB705DB0}" type="presParOf" srcId="{6DAC44A4-946D-AD49-BAA8-8B99CC71CD66}" destId="{9155D60B-7FBD-C141-B8F8-79F6C00D455D}" srcOrd="9" destOrd="0" presId="urn:microsoft.com/office/officeart/2005/8/layout/cycle5"/>
    <dgm:cxn modelId="{EDBAC10F-E425-4B9C-8A1D-4C5FF84F060C}" type="presParOf" srcId="{6DAC44A4-946D-AD49-BAA8-8B99CC71CD66}" destId="{02315AC1-EE74-6343-955F-18B10D134E1D}" srcOrd="10" destOrd="0" presId="urn:microsoft.com/office/officeart/2005/8/layout/cycle5"/>
    <dgm:cxn modelId="{AC3FDF49-4815-4552-BB4D-2106A47247AF}" type="presParOf" srcId="{6DAC44A4-946D-AD49-BAA8-8B99CC71CD66}" destId="{7C4B19D4-9C80-5344-9678-C555C8F32ADC}" srcOrd="11" destOrd="0" presId="urn:microsoft.com/office/officeart/2005/8/layout/cycle5"/>
    <dgm:cxn modelId="{F59B5528-4AFE-4A32-A7F7-A3497BFA49F2}" type="presParOf" srcId="{6DAC44A4-946D-AD49-BAA8-8B99CC71CD66}" destId="{781F0373-7C86-4741-A18F-7950FE58F8C4}" srcOrd="12" destOrd="0" presId="urn:microsoft.com/office/officeart/2005/8/layout/cycle5"/>
    <dgm:cxn modelId="{9AB88A75-9247-4D55-9E56-3E66E0602B05}" type="presParOf" srcId="{6DAC44A4-946D-AD49-BAA8-8B99CC71CD66}" destId="{E6073F0B-70E0-4A41-B0D6-2AE7DB141284}" srcOrd="13" destOrd="0" presId="urn:microsoft.com/office/officeart/2005/8/layout/cycle5"/>
    <dgm:cxn modelId="{CD356F1D-76B2-4B19-8F46-C3717FEDB78C}" type="presParOf" srcId="{6DAC44A4-946D-AD49-BAA8-8B99CC71CD66}" destId="{D51B85C4-A66E-AC4F-BE0A-6CC8CBF154D1}" srcOrd="14" destOrd="0" presId="urn:microsoft.com/office/officeart/2005/8/layout/cycle5"/>
    <dgm:cxn modelId="{C1BFEEDA-0523-4474-92E1-E2EBB3908351}" type="presParOf" srcId="{6DAC44A4-946D-AD49-BAA8-8B99CC71CD66}" destId="{0F2C9D08-106A-EE46-971C-C45C20C5137A}" srcOrd="15" destOrd="0" presId="urn:microsoft.com/office/officeart/2005/8/layout/cycle5"/>
    <dgm:cxn modelId="{3CCF173E-6829-4A0C-93AD-5135E41CD4B9}" type="presParOf" srcId="{6DAC44A4-946D-AD49-BAA8-8B99CC71CD66}" destId="{DF903AAD-722B-8043-ACE5-9512D4F943DA}" srcOrd="16" destOrd="0" presId="urn:microsoft.com/office/officeart/2005/8/layout/cycle5"/>
    <dgm:cxn modelId="{5F8684BF-7B36-4651-82A7-75BEFEEA0EAC}" type="presParOf" srcId="{6DAC44A4-946D-AD49-BAA8-8B99CC71CD66}" destId="{5BC9DACA-9C91-4249-9980-0502D8173007}" srcOrd="17" destOrd="0" presId="urn:microsoft.com/office/officeart/2005/8/layout/cycle5"/>
    <dgm:cxn modelId="{38D33DB8-9D2E-4E7C-B06F-DB25414FFEC8}" type="presParOf" srcId="{6DAC44A4-946D-AD49-BAA8-8B99CC71CD66}" destId="{2B65AAC4-B7E8-5746-8E67-F26D80203B35}" srcOrd="18" destOrd="0" presId="urn:microsoft.com/office/officeart/2005/8/layout/cycle5"/>
    <dgm:cxn modelId="{C844F531-AB0B-49D7-99ED-207479099549}" type="presParOf" srcId="{6DAC44A4-946D-AD49-BAA8-8B99CC71CD66}" destId="{9CBFF1BB-F136-2B4F-9861-A74689EEE698}" srcOrd="19" destOrd="0" presId="urn:microsoft.com/office/officeart/2005/8/layout/cycle5"/>
    <dgm:cxn modelId="{F2034FF9-8168-402D-A2BB-4AB616898A5D}" type="presParOf" srcId="{6DAC44A4-946D-AD49-BAA8-8B99CC71CD66}" destId="{E93F9943-929B-384C-BCDE-2FCC584CEF6B}" srcOrd="20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17B846-B20F-FC4F-A2C2-9E06271587E6}">
      <dsp:nvSpPr>
        <dsp:cNvPr id="0" name=""/>
        <dsp:cNvSpPr/>
      </dsp:nvSpPr>
      <dsp:spPr>
        <a:xfrm>
          <a:off x="3570925" y="2950"/>
          <a:ext cx="1292340" cy="840021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Анализ требований и предметной области</a:t>
          </a:r>
          <a:endParaRPr lang="en-US" sz="1100" kern="1200" dirty="0"/>
        </a:p>
      </dsp:txBody>
      <dsp:txXfrm>
        <a:off x="3611931" y="43956"/>
        <a:ext cx="1210328" cy="758009"/>
      </dsp:txXfrm>
    </dsp:sp>
    <dsp:sp modelId="{76E6319D-5DED-F444-ABDC-CE84FDB5AF24}">
      <dsp:nvSpPr>
        <dsp:cNvPr id="0" name=""/>
        <dsp:cNvSpPr/>
      </dsp:nvSpPr>
      <dsp:spPr>
        <a:xfrm>
          <a:off x="1821118" y="422961"/>
          <a:ext cx="4791954" cy="4791954"/>
        </a:xfrm>
        <a:custGeom>
          <a:avLst/>
          <a:gdLst/>
          <a:ahLst/>
          <a:cxnLst/>
          <a:rect l="0" t="0" r="0" b="0"/>
          <a:pathLst>
            <a:path>
              <a:moveTo>
                <a:pt x="3211090" y="142913"/>
              </a:moveTo>
              <a:arcTo wR="2395977" hR="2395977" stAng="17393346" swAng="771183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601C68-2A45-454E-BD52-8E36C30D84C0}">
      <dsp:nvSpPr>
        <dsp:cNvPr id="0" name=""/>
        <dsp:cNvSpPr/>
      </dsp:nvSpPr>
      <dsp:spPr>
        <a:xfrm>
          <a:off x="5444176" y="905060"/>
          <a:ext cx="1292340" cy="840021"/>
        </a:xfrm>
        <a:prstGeom prst="roundRect">
          <a:avLst/>
        </a:prstGeom>
        <a:gradFill rotWithShape="0">
          <a:gsLst>
            <a:gs pos="0">
              <a:schemeClr val="accent3">
                <a:hueOff val="1875044"/>
                <a:satOff val="-2813"/>
                <a:lumOff val="-458"/>
                <a:alphaOff val="0"/>
                <a:tint val="50000"/>
                <a:satMod val="300000"/>
              </a:schemeClr>
            </a:gs>
            <a:gs pos="35000">
              <a:schemeClr val="accent3">
                <a:hueOff val="1875044"/>
                <a:satOff val="-2813"/>
                <a:lumOff val="-458"/>
                <a:alphaOff val="0"/>
                <a:tint val="37000"/>
                <a:satMod val="300000"/>
              </a:schemeClr>
            </a:gs>
            <a:gs pos="100000">
              <a:schemeClr val="accent3">
                <a:hueOff val="1875044"/>
                <a:satOff val="-2813"/>
                <a:lumOff val="-45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Определение назначения и масштаба онтологии</a:t>
          </a:r>
          <a:endParaRPr lang="en-US" sz="1100" kern="1200" dirty="0"/>
        </a:p>
      </dsp:txBody>
      <dsp:txXfrm>
        <a:off x="5485182" y="946066"/>
        <a:ext cx="1210328" cy="758009"/>
      </dsp:txXfrm>
    </dsp:sp>
    <dsp:sp modelId="{E65257BA-B332-8149-B312-3D773D6091D5}">
      <dsp:nvSpPr>
        <dsp:cNvPr id="0" name=""/>
        <dsp:cNvSpPr/>
      </dsp:nvSpPr>
      <dsp:spPr>
        <a:xfrm>
          <a:off x="1821118" y="422961"/>
          <a:ext cx="4791954" cy="4791954"/>
        </a:xfrm>
        <a:custGeom>
          <a:avLst/>
          <a:gdLst/>
          <a:ahLst/>
          <a:cxnLst/>
          <a:rect l="0" t="0" r="0" b="0"/>
          <a:pathLst>
            <a:path>
              <a:moveTo>
                <a:pt x="4632362" y="1536158"/>
              </a:moveTo>
              <a:arcTo wR="2395977" hR="2395977" stAng="20338190" swAng="1024720"/>
            </a:path>
          </a:pathLst>
        </a:custGeom>
        <a:noFill/>
        <a:ln w="9525" cap="flat" cmpd="sng" algn="ctr">
          <a:solidFill>
            <a:schemeClr val="accent3">
              <a:hueOff val="1875044"/>
              <a:satOff val="-2813"/>
              <a:lumOff val="-4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4599DA-508C-FE43-9CB8-F1A2EC92A64D}">
      <dsp:nvSpPr>
        <dsp:cNvPr id="0" name=""/>
        <dsp:cNvSpPr/>
      </dsp:nvSpPr>
      <dsp:spPr>
        <a:xfrm>
          <a:off x="5761726" y="2887763"/>
          <a:ext cx="1582548" cy="928660"/>
        </a:xfrm>
        <a:prstGeom prst="roundRect">
          <a:avLst/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tint val="50000"/>
                <a:satMod val="300000"/>
              </a:schemeClr>
            </a:gs>
            <a:gs pos="35000">
              <a:schemeClr val="accent3">
                <a:hueOff val="3750088"/>
                <a:satOff val="-5627"/>
                <a:lumOff val="-915"/>
                <a:alphaOff val="0"/>
                <a:tint val="37000"/>
                <a:satMod val="30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>
              <a:solidFill>
                <a:srgbClr val="FF0000"/>
              </a:solidFill>
            </a:rPr>
            <a:t>Рассмотрение возможности повторного использования онтологий </a:t>
          </a:r>
          <a:endParaRPr lang="en-US" sz="1400" b="1" kern="1200" dirty="0">
            <a:solidFill>
              <a:srgbClr val="FF0000"/>
            </a:solidFill>
          </a:endParaRPr>
        </a:p>
      </dsp:txBody>
      <dsp:txXfrm>
        <a:off x="5807059" y="2933096"/>
        <a:ext cx="1491882" cy="837994"/>
      </dsp:txXfrm>
    </dsp:sp>
    <dsp:sp modelId="{DED26FAA-266F-E043-B762-1BE7ABB3AEB6}">
      <dsp:nvSpPr>
        <dsp:cNvPr id="0" name=""/>
        <dsp:cNvSpPr/>
      </dsp:nvSpPr>
      <dsp:spPr>
        <a:xfrm>
          <a:off x="1821118" y="422961"/>
          <a:ext cx="4791954" cy="4791954"/>
        </a:xfrm>
        <a:custGeom>
          <a:avLst/>
          <a:gdLst/>
          <a:ahLst/>
          <a:cxnLst/>
          <a:rect l="0" t="0" r="0" b="0"/>
          <a:pathLst>
            <a:path>
              <a:moveTo>
                <a:pt x="4492355" y="3556108"/>
              </a:moveTo>
              <a:arcTo wR="2395977" hR="2395977" stAng="1737603" swAng="792410"/>
            </a:path>
          </a:pathLst>
        </a:custGeom>
        <a:noFill/>
        <a:ln w="9525" cap="flat" cmpd="sng" algn="ctr">
          <a:solidFill>
            <a:schemeClr val="accent3">
              <a:hueOff val="3750088"/>
              <a:satOff val="-5627"/>
              <a:lumOff val="-9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55D60B-7FBD-C141-B8F8-79F6C00D455D}">
      <dsp:nvSpPr>
        <dsp:cNvPr id="0" name=""/>
        <dsp:cNvSpPr/>
      </dsp:nvSpPr>
      <dsp:spPr>
        <a:xfrm>
          <a:off x="4610501" y="4557628"/>
          <a:ext cx="1292340" cy="840021"/>
        </a:xfrm>
        <a:prstGeom prst="roundRect">
          <a:avLst/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tint val="50000"/>
                <a:satMod val="300000"/>
              </a:schemeClr>
            </a:gs>
            <a:gs pos="35000">
              <a:schemeClr val="accent3">
                <a:hueOff val="5625132"/>
                <a:satOff val="-8440"/>
                <a:lumOff val="-1373"/>
                <a:alphaOff val="0"/>
                <a:tint val="37000"/>
                <a:satMod val="30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Перечисление терминов</a:t>
          </a:r>
          <a:endParaRPr lang="en-US" sz="1100" kern="1200" dirty="0"/>
        </a:p>
      </dsp:txBody>
      <dsp:txXfrm>
        <a:off x="4651507" y="4598634"/>
        <a:ext cx="1210328" cy="758009"/>
      </dsp:txXfrm>
    </dsp:sp>
    <dsp:sp modelId="{7C4B19D4-9C80-5344-9678-C555C8F32ADC}">
      <dsp:nvSpPr>
        <dsp:cNvPr id="0" name=""/>
        <dsp:cNvSpPr/>
      </dsp:nvSpPr>
      <dsp:spPr>
        <a:xfrm>
          <a:off x="1821118" y="422961"/>
          <a:ext cx="4791954" cy="4791954"/>
        </a:xfrm>
        <a:custGeom>
          <a:avLst/>
          <a:gdLst/>
          <a:ahLst/>
          <a:cxnLst/>
          <a:rect l="0" t="0" r="0" b="0"/>
          <a:pathLst>
            <a:path>
              <a:moveTo>
                <a:pt x="2633419" y="4780159"/>
              </a:moveTo>
              <a:arcTo wR="2395977" hR="2395977" stAng="5058758" swAng="682485"/>
            </a:path>
          </a:pathLst>
        </a:custGeom>
        <a:noFill/>
        <a:ln w="9525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1F0373-7C86-4741-A18F-7950FE58F8C4}">
      <dsp:nvSpPr>
        <dsp:cNvPr id="0" name=""/>
        <dsp:cNvSpPr/>
      </dsp:nvSpPr>
      <dsp:spPr>
        <a:xfrm>
          <a:off x="2531350" y="4557628"/>
          <a:ext cx="1292340" cy="840021"/>
        </a:xfrm>
        <a:prstGeom prst="roundRect">
          <a:avLst/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tint val="50000"/>
                <a:satMod val="300000"/>
              </a:schemeClr>
            </a:gs>
            <a:gs pos="35000">
              <a:schemeClr val="accent3">
                <a:hueOff val="7500176"/>
                <a:satOff val="-11253"/>
                <a:lumOff val="-1830"/>
                <a:alphaOff val="0"/>
                <a:tint val="37000"/>
                <a:satMod val="30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Определение иерархий классов и свойств</a:t>
          </a:r>
          <a:endParaRPr lang="en-US" sz="1100" kern="1200" dirty="0"/>
        </a:p>
      </dsp:txBody>
      <dsp:txXfrm>
        <a:off x="2572356" y="4598634"/>
        <a:ext cx="1210328" cy="758009"/>
      </dsp:txXfrm>
    </dsp:sp>
    <dsp:sp modelId="{D51B85C4-A66E-AC4F-BE0A-6CC8CBF154D1}">
      <dsp:nvSpPr>
        <dsp:cNvPr id="0" name=""/>
        <dsp:cNvSpPr/>
      </dsp:nvSpPr>
      <dsp:spPr>
        <a:xfrm>
          <a:off x="1821118" y="422961"/>
          <a:ext cx="4791954" cy="4791954"/>
        </a:xfrm>
        <a:custGeom>
          <a:avLst/>
          <a:gdLst/>
          <a:ahLst/>
          <a:cxnLst/>
          <a:rect l="0" t="0" r="0" b="0"/>
          <a:pathLst>
            <a:path>
              <a:moveTo>
                <a:pt x="613720" y="3997310"/>
              </a:moveTo>
              <a:arcTo wR="2395977" hR="2395977" stAng="8283644" swAng="834718"/>
            </a:path>
          </a:pathLst>
        </a:custGeom>
        <a:noFill/>
        <a:ln w="9525" cap="flat" cmpd="sng" algn="ctr">
          <a:solidFill>
            <a:schemeClr val="accent3">
              <a:hueOff val="7500176"/>
              <a:satOff val="-11253"/>
              <a:lumOff val="-18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2C9D08-106A-EE46-971C-C45C20C5137A}">
      <dsp:nvSpPr>
        <dsp:cNvPr id="0" name=""/>
        <dsp:cNvSpPr/>
      </dsp:nvSpPr>
      <dsp:spPr>
        <a:xfrm>
          <a:off x="1235020" y="2932082"/>
          <a:ext cx="1292340" cy="840021"/>
        </a:xfrm>
        <a:prstGeom prst="roundRect">
          <a:avLst/>
        </a:prstGeom>
        <a:gradFill rotWithShape="0">
          <a:gsLst>
            <a:gs pos="0">
              <a:schemeClr val="accent3">
                <a:hueOff val="9375220"/>
                <a:satOff val="-14067"/>
                <a:lumOff val="-2288"/>
                <a:alphaOff val="0"/>
                <a:tint val="50000"/>
                <a:satMod val="300000"/>
              </a:schemeClr>
            </a:gs>
            <a:gs pos="35000">
              <a:schemeClr val="accent3">
                <a:hueOff val="9375220"/>
                <a:satOff val="-14067"/>
                <a:lumOff val="-2288"/>
                <a:alphaOff val="0"/>
                <a:tint val="37000"/>
                <a:satMod val="300000"/>
              </a:schemeClr>
            </a:gs>
            <a:gs pos="100000">
              <a:schemeClr val="accent3">
                <a:hueOff val="9375220"/>
                <a:satOff val="-14067"/>
                <a:lumOff val="-228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 smtClean="0"/>
            <a:t>Определение ограничений</a:t>
          </a:r>
          <a:endParaRPr lang="en-US" sz="1100" kern="1200" dirty="0"/>
        </a:p>
      </dsp:txBody>
      <dsp:txXfrm>
        <a:off x="1276026" y="2973088"/>
        <a:ext cx="1210328" cy="758009"/>
      </dsp:txXfrm>
    </dsp:sp>
    <dsp:sp modelId="{5BC9DACA-9C91-4249-9980-0502D8173007}">
      <dsp:nvSpPr>
        <dsp:cNvPr id="0" name=""/>
        <dsp:cNvSpPr/>
      </dsp:nvSpPr>
      <dsp:spPr>
        <a:xfrm>
          <a:off x="1821118" y="422961"/>
          <a:ext cx="4791954" cy="4791954"/>
        </a:xfrm>
        <a:custGeom>
          <a:avLst/>
          <a:gdLst/>
          <a:ahLst/>
          <a:cxnLst/>
          <a:rect l="0" t="0" r="0" b="0"/>
          <a:pathLst>
            <a:path>
              <a:moveTo>
                <a:pt x="3497" y="2266558"/>
              </a:moveTo>
              <a:arcTo wR="2395977" hR="2395977" stAng="10985780" swAng="1063702"/>
            </a:path>
          </a:pathLst>
        </a:custGeom>
        <a:noFill/>
        <a:ln w="9525" cap="flat" cmpd="sng" algn="ctr">
          <a:solidFill>
            <a:schemeClr val="accent3">
              <a:hueOff val="9375220"/>
              <a:satOff val="-14067"/>
              <a:lumOff val="-228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65AAC4-B7E8-5746-8E67-F26D80203B35}">
      <dsp:nvSpPr>
        <dsp:cNvPr id="0" name=""/>
        <dsp:cNvSpPr/>
      </dsp:nvSpPr>
      <dsp:spPr>
        <a:xfrm>
          <a:off x="1697675" y="905060"/>
          <a:ext cx="1292340" cy="840021"/>
        </a:xfrm>
        <a:prstGeom prst="roundRect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tint val="50000"/>
                <a:satMod val="300000"/>
              </a:schemeClr>
            </a:gs>
            <a:gs pos="35000">
              <a:schemeClr val="accent3">
                <a:hueOff val="11250264"/>
                <a:satOff val="-16880"/>
                <a:lumOff val="-2745"/>
                <a:alphaOff val="0"/>
                <a:tint val="37000"/>
                <a:satMod val="30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 smtClean="0">
              <a:solidFill>
                <a:srgbClr val="FF0000"/>
              </a:solidFill>
            </a:rPr>
            <a:t>Наполнение онтологии (Добавление индивидов)</a:t>
          </a:r>
          <a:endParaRPr lang="en-US" sz="1400" b="1" kern="1200" dirty="0">
            <a:solidFill>
              <a:srgbClr val="FF0000"/>
            </a:solidFill>
          </a:endParaRPr>
        </a:p>
      </dsp:txBody>
      <dsp:txXfrm>
        <a:off x="1738681" y="946066"/>
        <a:ext cx="1210328" cy="758009"/>
      </dsp:txXfrm>
    </dsp:sp>
    <dsp:sp modelId="{E93F9943-929B-384C-BCDE-2FCC584CEF6B}">
      <dsp:nvSpPr>
        <dsp:cNvPr id="0" name=""/>
        <dsp:cNvSpPr/>
      </dsp:nvSpPr>
      <dsp:spPr>
        <a:xfrm>
          <a:off x="1821118" y="422961"/>
          <a:ext cx="4791954" cy="4791954"/>
        </a:xfrm>
        <a:custGeom>
          <a:avLst/>
          <a:gdLst/>
          <a:ahLst/>
          <a:cxnLst/>
          <a:rect l="0" t="0" r="0" b="0"/>
          <a:pathLst>
            <a:path>
              <a:moveTo>
                <a:pt x="1100090" y="380689"/>
              </a:moveTo>
              <a:arcTo wR="2395977" hR="2395977" stAng="14235470" swAng="771183"/>
            </a:path>
          </a:pathLst>
        </a:custGeom>
        <a:noFill/>
        <a:ln w="9525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70DFB-76CE-40B5-BF69-2AD1A43DC48E}" type="datetimeFigureOut">
              <a:rPr lang="ru-RU" smtClean="0"/>
              <a:pPr/>
              <a:t>27.09.2017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5303B-32EC-49F8-805B-F70647827FE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31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F11234-EA80-4F32-B41D-36A30D94E251}" type="slidenum">
              <a:rPr lang="he-IL" altLang="ru-RU"/>
              <a:pPr/>
              <a:t>5</a:t>
            </a:fld>
            <a:endParaRPr lang="en-US" altLang="ru-RU"/>
          </a:p>
        </p:txBody>
      </p:sp>
      <p:sp>
        <p:nvSpPr>
          <p:cNvPr id="1761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altLang="ru-RU"/>
              <a:t>הגדרה של אונתולוגיה:</a:t>
            </a:r>
          </a:p>
          <a:p>
            <a:r>
              <a:rPr lang="he-IL" altLang="ru-RU"/>
              <a:t>מפרט רשמי וחד משמעי של הבנה תפיסתית משותפת </a:t>
            </a: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01632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27.09.2017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27.09.2017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27.09.2017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27.09.2017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27.09.2017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27.09.2017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27.09.2017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27.09.2017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27.09.2017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27.09.2017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27.09.2017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pPr/>
              <a:t>27.09.2017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swoogle.umbc.edu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836712"/>
            <a:ext cx="7772400" cy="3096343"/>
          </a:xfrm>
        </p:spPr>
        <p:txBody>
          <a:bodyPr>
            <a:normAutofit/>
          </a:bodyPr>
          <a:lstStyle/>
          <a:p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Онтологическое </a:t>
            </a:r>
            <a:r>
              <a:rPr lang="ru-RU" dirty="0"/>
              <a:t>моделирование: проблемы и перспективы</a:t>
            </a:r>
            <a:endParaRPr lang="ru-RU" sz="5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79512" y="5157192"/>
            <a:ext cx="87849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330099"/>
                </a:solidFill>
                <a:latin typeface="Arial" panose="020B0604020202020204" pitchFamily="34" charset="0"/>
              </a:rPr>
              <a:t>V International scientific conference</a:t>
            </a:r>
          </a:p>
          <a:p>
            <a:pPr algn="ctr"/>
            <a:r>
              <a:rPr lang="en-US" b="1" dirty="0">
                <a:solidFill>
                  <a:srgbClr val="330099"/>
                </a:solidFill>
                <a:latin typeface="Arial" panose="020B0604020202020204" pitchFamily="34" charset="0"/>
              </a:rPr>
              <a:t>PROBLEMS OF CONTROL, INFORMATION PROCESSING AND TRANSMISSION (CIPT-2017)</a:t>
            </a:r>
          </a:p>
          <a:p>
            <a:pPr algn="ctr"/>
            <a:r>
              <a:rPr lang="en-US" b="1" dirty="0">
                <a:solidFill>
                  <a:srgbClr val="330099"/>
                </a:solidFill>
                <a:latin typeface="Arial" panose="020B0604020202020204" pitchFamily="34" charset="0"/>
              </a:rPr>
              <a:t>September 28 – 30, 2017, Saratov</a:t>
            </a:r>
            <a:endParaRPr lang="en-US" b="1" i="0" dirty="0">
              <a:solidFill>
                <a:srgbClr val="330099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4499992" y="3741133"/>
            <a:ext cx="4644008" cy="105601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800" dirty="0" smtClean="0">
                <a:solidFill>
                  <a:schemeClr val="tx1"/>
                </a:solidFill>
              </a:rPr>
              <a:t>Шульга Т.Э.,</a:t>
            </a:r>
          </a:p>
          <a:p>
            <a:pPr algn="l"/>
            <a:r>
              <a:rPr lang="ru-RU" sz="2800" dirty="0" smtClean="0">
                <a:solidFill>
                  <a:schemeClr val="tx1"/>
                </a:solidFill>
              </a:rPr>
              <a:t>СГТУ имени Гагарина Т.Э., проф. кафедры «Информационно-коммуникационные системы и программная инженерия»</a:t>
            </a:r>
            <a:endParaRPr lang="ru-RU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86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Онтологическое моделирование: определение</a:t>
            </a:r>
          </a:p>
          <a:p>
            <a:r>
              <a:rPr lang="ru-RU" dirty="0" smtClean="0"/>
              <a:t>Онтологии или Базы данных?</a:t>
            </a:r>
          </a:p>
          <a:p>
            <a:r>
              <a:rPr lang="ru-RU" dirty="0" smtClean="0"/>
              <a:t>Современные задачи и проблемы онтологического моделирования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6992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451106"/>
            <a:ext cx="8229600" cy="2041790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О</a:t>
            </a:r>
            <a:r>
              <a:rPr lang="ru-RU" b="1" dirty="0" smtClean="0"/>
              <a:t>нтология</a:t>
            </a:r>
            <a:r>
              <a:rPr lang="ru-RU" dirty="0" smtClean="0"/>
              <a:t> - модель </a:t>
            </a:r>
            <a:r>
              <a:rPr lang="ru-RU" dirty="0"/>
              <a:t>представления знаний в предметной области. </a:t>
            </a:r>
          </a:p>
          <a:p>
            <a:r>
              <a:rPr lang="ru-RU" b="1" dirty="0"/>
              <a:t>Онтологическое моделирование </a:t>
            </a:r>
            <a:r>
              <a:rPr lang="ru-RU" dirty="0"/>
              <a:t>(</a:t>
            </a:r>
            <a:r>
              <a:rPr lang="ru-RU" dirty="0" err="1"/>
              <a:t>Ontological</a:t>
            </a:r>
            <a:r>
              <a:rPr lang="ru-RU" dirty="0"/>
              <a:t> </a:t>
            </a:r>
            <a:r>
              <a:rPr lang="ru-RU" dirty="0" err="1"/>
              <a:t>Modeling</a:t>
            </a:r>
            <a:r>
              <a:rPr lang="ru-RU" dirty="0"/>
              <a:t>) - процесс построения, развития, обработки и использования онтологии предметной </a:t>
            </a:r>
            <a:r>
              <a:rPr lang="ru-RU" dirty="0" smtClean="0"/>
              <a:t>области (конец 20-го века)</a:t>
            </a:r>
            <a:endParaRPr lang="ru-RU" dirty="0"/>
          </a:p>
        </p:txBody>
      </p:sp>
      <p:pic>
        <p:nvPicPr>
          <p:cNvPr id="1026" name="Picture 2" descr="http://image.slidesharecdn.com/random-120530095407-phpapp01/95/-8-1024.jpg?cb=1338389688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80" b="6193"/>
          <a:stretch/>
        </p:blipFill>
        <p:spPr bwMode="auto">
          <a:xfrm>
            <a:off x="467544" y="2852936"/>
            <a:ext cx="5408064" cy="299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W3C SW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621" y="3892967"/>
            <a:ext cx="229552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6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Пересечение областей знаний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2324" y="5585866"/>
            <a:ext cx="8229600" cy="111732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Онтологически </a:t>
            </a:r>
            <a:r>
              <a:rPr lang="ru-RU" sz="2400" dirty="0"/>
              <a:t>глоссарий http://ontology.ipi.ac.ru/ </a:t>
            </a:r>
            <a:r>
              <a:rPr lang="ru-RU" sz="2400" dirty="0" smtClean="0"/>
              <a:t>(???)</a:t>
            </a:r>
            <a:endParaRPr lang="ru-RU" sz="2400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278314"/>
            <a:ext cx="6120680" cy="430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94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23CB7-3725-456D-9D9D-BB481F61373E}" type="slidenum">
              <a:rPr lang="he-IL" altLang="ru-RU"/>
              <a:pPr/>
              <a:t>5</a:t>
            </a:fld>
            <a:endParaRPr lang="en-US" altLang="ru-RU"/>
          </a:p>
        </p:txBody>
      </p:sp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Онтология в информатике</a:t>
            </a:r>
            <a:endParaRPr lang="en-US" altLang="ru-RU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348406" y="1628800"/>
            <a:ext cx="8326438" cy="2941637"/>
            <a:chOff x="323850" y="2566988"/>
            <a:chExt cx="8326438" cy="2941637"/>
          </a:xfrm>
        </p:grpSpPr>
        <p:sp>
          <p:nvSpPr>
            <p:cNvPr id="145412" name="Rectangle 4"/>
            <p:cNvSpPr>
              <a:spLocks noChangeArrowheads="1"/>
            </p:cNvSpPr>
            <p:nvPr/>
          </p:nvSpPr>
          <p:spPr bwMode="auto">
            <a:xfrm>
              <a:off x="323850" y="3752850"/>
              <a:ext cx="8326438" cy="371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88900" indent="-889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58825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77925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lang="ru-RU" altLang="ru-RU" sz="1600" b="1" dirty="0" smtClean="0"/>
                <a:t>Формальная</a:t>
              </a:r>
              <a:r>
                <a:rPr lang="en-US" altLang="ru-RU" sz="1600" b="1" dirty="0" smtClean="0"/>
                <a:t>, </a:t>
              </a:r>
              <a:r>
                <a:rPr lang="ru-RU" altLang="ru-RU" sz="1600" b="1" dirty="0" smtClean="0"/>
                <a:t>явная спецификация разделяемой концептуализации</a:t>
              </a:r>
              <a:endParaRPr lang="en-US" altLang="ru-RU" sz="1600" b="1" dirty="0"/>
            </a:p>
            <a:p>
              <a:pPr>
                <a:buFont typeface="Wingdings" panose="05000000000000000000" pitchFamily="2" charset="2"/>
                <a:buNone/>
              </a:pPr>
              <a:endParaRPr lang="he-IL" altLang="ru-RU" sz="1700" dirty="0">
                <a:solidFill>
                  <a:schemeClr val="folHlink"/>
                </a:solidFill>
              </a:endParaRPr>
            </a:p>
            <a:p>
              <a:endParaRPr lang="en-US" altLang="ru-RU" sz="1100" b="1" dirty="0">
                <a:solidFill>
                  <a:schemeClr val="folHlink"/>
                </a:solidFill>
              </a:endParaRPr>
            </a:p>
            <a:p>
              <a:endParaRPr lang="en-US" altLang="ru-RU" sz="2500" b="1" dirty="0"/>
            </a:p>
            <a:p>
              <a:endParaRPr lang="en-US" altLang="ru-RU" sz="2500" b="1" dirty="0"/>
            </a:p>
            <a:p>
              <a:endParaRPr lang="en-US" altLang="ru-RU" sz="2500" b="1" dirty="0"/>
            </a:p>
          </p:txBody>
        </p:sp>
        <p:grpSp>
          <p:nvGrpSpPr>
            <p:cNvPr id="145413" name="Group 5"/>
            <p:cNvGrpSpPr>
              <a:grpSpLocks/>
            </p:cNvGrpSpPr>
            <p:nvPr/>
          </p:nvGrpSpPr>
          <p:grpSpPr bwMode="auto">
            <a:xfrm>
              <a:off x="4427538" y="4113213"/>
              <a:ext cx="2362200" cy="1060450"/>
              <a:chOff x="2647" y="2109"/>
              <a:chExt cx="1488" cy="668"/>
            </a:xfrm>
          </p:grpSpPr>
          <p:sp>
            <p:nvSpPr>
              <p:cNvPr id="145414" name="Text Box 6"/>
              <p:cNvSpPr txBox="1">
                <a:spLocks noChangeArrowheads="1"/>
              </p:cNvSpPr>
              <p:nvPr/>
            </p:nvSpPr>
            <p:spPr bwMode="auto">
              <a:xfrm>
                <a:off x="2647" y="2453"/>
                <a:ext cx="1488" cy="324"/>
              </a:xfrm>
              <a:prstGeom prst="rect">
                <a:avLst/>
              </a:prstGeom>
              <a:solidFill>
                <a:srgbClr val="FF6600"/>
              </a:solidFill>
              <a:ln w="28575">
                <a:solidFill>
                  <a:srgbClr val="FF66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10800" rIns="18000" bIns="1080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ru-RU" altLang="ru-RU" sz="1600" b="1" i="1" dirty="0" smtClean="0">
                    <a:latin typeface="Arial" panose="020B0604020202020204" pitchFamily="34" charset="0"/>
                  </a:rPr>
                  <a:t>общепринятое </a:t>
                </a:r>
                <a:r>
                  <a:rPr lang="ru-RU" altLang="ru-RU" sz="1600" b="1" i="1" dirty="0">
                    <a:latin typeface="Arial" panose="020B0604020202020204" pitchFamily="34" charset="0"/>
                  </a:rPr>
                  <a:t>понимание</a:t>
                </a:r>
                <a:endParaRPr lang="en-GB" altLang="ru-RU" sz="1600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415" name="Line 7"/>
              <p:cNvSpPr>
                <a:spLocks noChangeShapeType="1"/>
              </p:cNvSpPr>
              <p:nvPr/>
            </p:nvSpPr>
            <p:spPr bwMode="auto">
              <a:xfrm flipH="1" flipV="1">
                <a:off x="3367" y="2109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ru-RU"/>
              </a:p>
            </p:txBody>
          </p:sp>
        </p:grpSp>
        <p:grpSp>
          <p:nvGrpSpPr>
            <p:cNvPr id="145416" name="Group 8"/>
            <p:cNvGrpSpPr>
              <a:grpSpLocks/>
            </p:cNvGrpSpPr>
            <p:nvPr/>
          </p:nvGrpSpPr>
          <p:grpSpPr bwMode="auto">
            <a:xfrm>
              <a:off x="6238875" y="2566988"/>
              <a:ext cx="1981200" cy="1219200"/>
              <a:chOff x="3464" y="1151"/>
              <a:chExt cx="1248" cy="768"/>
            </a:xfrm>
          </p:grpSpPr>
          <p:sp>
            <p:nvSpPr>
              <p:cNvPr id="145417" name="Text Box 9"/>
              <p:cNvSpPr txBox="1">
                <a:spLocks noChangeArrowheads="1"/>
              </p:cNvSpPr>
              <p:nvPr/>
            </p:nvSpPr>
            <p:spPr bwMode="auto">
              <a:xfrm>
                <a:off x="3464" y="1151"/>
                <a:ext cx="1248" cy="634"/>
              </a:xfrm>
              <a:prstGeom prst="rect">
                <a:avLst/>
              </a:prstGeom>
              <a:solidFill>
                <a:srgbClr val="99CC00"/>
              </a:solidFill>
              <a:ln w="28575">
                <a:solidFill>
                  <a:srgbClr val="99CC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10800" rIns="18000" bIns="1080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ru-RU" altLang="ru-RU" sz="1600" b="1" i="1" dirty="0" smtClean="0">
                    <a:latin typeface="Arial" panose="020B0604020202020204" pitchFamily="34" charset="0"/>
                  </a:rPr>
                  <a:t>Концептуальная модель предметной области</a:t>
                </a:r>
                <a:endParaRPr lang="en-GB" altLang="ru-RU" sz="16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418" name="Line 10"/>
              <p:cNvSpPr>
                <a:spLocks noChangeShapeType="1"/>
              </p:cNvSpPr>
              <p:nvPr/>
            </p:nvSpPr>
            <p:spPr bwMode="auto">
              <a:xfrm flipV="1">
                <a:off x="4088" y="1631"/>
                <a:ext cx="0" cy="288"/>
              </a:xfrm>
              <a:prstGeom prst="line">
                <a:avLst/>
              </a:prstGeom>
              <a:noFill/>
              <a:ln w="28575">
                <a:solidFill>
                  <a:srgbClr val="99CC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ru-RU"/>
              </a:p>
            </p:txBody>
          </p:sp>
        </p:grpSp>
        <p:grpSp>
          <p:nvGrpSpPr>
            <p:cNvPr id="145419" name="Group 11"/>
            <p:cNvGrpSpPr>
              <a:grpSpLocks/>
            </p:cNvGrpSpPr>
            <p:nvPr/>
          </p:nvGrpSpPr>
          <p:grpSpPr bwMode="auto">
            <a:xfrm>
              <a:off x="900113" y="2636838"/>
              <a:ext cx="2514600" cy="1143000"/>
              <a:chOff x="972" y="1193"/>
              <a:chExt cx="1584" cy="720"/>
            </a:xfrm>
          </p:grpSpPr>
          <p:sp>
            <p:nvSpPr>
              <p:cNvPr id="145420" name="Text Box 12"/>
              <p:cNvSpPr txBox="1">
                <a:spLocks noChangeArrowheads="1"/>
              </p:cNvSpPr>
              <p:nvPr/>
            </p:nvSpPr>
            <p:spPr bwMode="auto">
              <a:xfrm>
                <a:off x="972" y="1193"/>
                <a:ext cx="1584" cy="324"/>
              </a:xfrm>
              <a:prstGeom prst="rect">
                <a:avLst/>
              </a:prstGeom>
              <a:solidFill>
                <a:srgbClr val="FFCC66"/>
              </a:solidFill>
              <a:ln w="38100">
                <a:solidFill>
                  <a:srgbClr val="FFCC6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10800" rIns="18000" bIns="1080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ru-RU" altLang="ru-RU" sz="1600" b="1" i="1" dirty="0">
                    <a:latin typeface="Arial" panose="020B0604020202020204" pitchFamily="34" charset="0"/>
                  </a:rPr>
                  <a:t>однозначные </a:t>
                </a:r>
                <a:r>
                  <a:rPr lang="ru-RU" altLang="ru-RU" sz="1600" b="1" i="1" dirty="0" smtClean="0">
                    <a:latin typeface="Arial" panose="020B0604020202020204" pitchFamily="34" charset="0"/>
                  </a:rPr>
                  <a:t>определения</a:t>
                </a:r>
                <a:endParaRPr lang="en-GB" altLang="ru-RU" sz="1600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421" name="Line 13"/>
              <p:cNvSpPr>
                <a:spLocks noChangeShapeType="1"/>
              </p:cNvSpPr>
              <p:nvPr/>
            </p:nvSpPr>
            <p:spPr bwMode="auto">
              <a:xfrm flipV="1">
                <a:off x="1735" y="1523"/>
                <a:ext cx="0" cy="390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ru-RU"/>
              </a:p>
            </p:txBody>
          </p:sp>
        </p:grpSp>
        <p:grpSp>
          <p:nvGrpSpPr>
            <p:cNvPr id="145422" name="Group 14"/>
            <p:cNvGrpSpPr>
              <a:grpSpLocks/>
            </p:cNvGrpSpPr>
            <p:nvPr/>
          </p:nvGrpSpPr>
          <p:grpSpPr bwMode="auto">
            <a:xfrm>
              <a:off x="755650" y="4113213"/>
              <a:ext cx="2362200" cy="1395412"/>
              <a:chOff x="1060" y="2146"/>
              <a:chExt cx="1488" cy="879"/>
            </a:xfrm>
          </p:grpSpPr>
          <p:sp>
            <p:nvSpPr>
              <p:cNvPr id="145423" name="Text Box 15"/>
              <p:cNvSpPr txBox="1">
                <a:spLocks noChangeArrowheads="1"/>
              </p:cNvSpPr>
              <p:nvPr/>
            </p:nvSpPr>
            <p:spPr bwMode="auto">
              <a:xfrm>
                <a:off x="1060" y="2531"/>
                <a:ext cx="1488" cy="494"/>
              </a:xfrm>
              <a:prstGeom prst="rect">
                <a:avLst/>
              </a:prstGeom>
              <a:solidFill>
                <a:srgbClr val="99CCFF"/>
              </a:solidFill>
              <a:ln w="28575">
                <a:solidFill>
                  <a:srgbClr val="99CC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10800" rIns="18000" bIns="1080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ru-RU" altLang="ru-RU" sz="1600" b="1" i="1" dirty="0" err="1">
                    <a:latin typeface="Arial" panose="020B0604020202020204" pitchFamily="34" charset="0"/>
                  </a:rPr>
                  <a:t>машиночитаемость</a:t>
                </a:r>
                <a:r>
                  <a:rPr lang="ru-RU" altLang="ru-RU" sz="1600" b="1" i="1" dirty="0">
                    <a:latin typeface="Arial" panose="020B0604020202020204" pitchFamily="34" charset="0"/>
                  </a:rPr>
                  <a:t> с вычислительной семантикой</a:t>
                </a:r>
                <a:endParaRPr lang="en-GB" altLang="ru-RU" sz="1600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5424" name="Line 16"/>
              <p:cNvSpPr>
                <a:spLocks noChangeShapeType="1"/>
              </p:cNvSpPr>
              <p:nvPr/>
            </p:nvSpPr>
            <p:spPr bwMode="auto">
              <a:xfrm flipV="1">
                <a:off x="1804" y="2338"/>
                <a:ext cx="6" cy="174"/>
              </a:xfrm>
              <a:prstGeom prst="line">
                <a:avLst/>
              </a:prstGeom>
              <a:noFill/>
              <a:ln w="28575">
                <a:solidFill>
                  <a:srgbClr val="99CC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ru-RU"/>
              </a:p>
            </p:txBody>
          </p:sp>
          <p:sp>
            <p:nvSpPr>
              <p:cNvPr id="145425" name="Line 17"/>
              <p:cNvSpPr>
                <a:spLocks noChangeShapeType="1"/>
              </p:cNvSpPr>
              <p:nvPr/>
            </p:nvSpPr>
            <p:spPr bwMode="auto">
              <a:xfrm>
                <a:off x="1138" y="2338"/>
                <a:ext cx="1344" cy="0"/>
              </a:xfrm>
              <a:prstGeom prst="line">
                <a:avLst/>
              </a:prstGeom>
              <a:noFill/>
              <a:ln w="28575" cap="sq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ru-RU"/>
              </a:p>
            </p:txBody>
          </p:sp>
          <p:sp>
            <p:nvSpPr>
              <p:cNvPr id="145426" name="Line 18"/>
              <p:cNvSpPr>
                <a:spLocks noChangeShapeType="1"/>
              </p:cNvSpPr>
              <p:nvPr/>
            </p:nvSpPr>
            <p:spPr bwMode="auto">
              <a:xfrm flipV="1">
                <a:off x="1138" y="2146"/>
                <a:ext cx="0" cy="192"/>
              </a:xfrm>
              <a:prstGeom prst="line">
                <a:avLst/>
              </a:prstGeom>
              <a:noFill/>
              <a:ln w="28575" cap="sq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ru-RU"/>
              </a:p>
            </p:txBody>
          </p:sp>
          <p:sp>
            <p:nvSpPr>
              <p:cNvPr id="145427" name="Line 19"/>
              <p:cNvSpPr>
                <a:spLocks noChangeShapeType="1"/>
              </p:cNvSpPr>
              <p:nvPr/>
            </p:nvSpPr>
            <p:spPr bwMode="auto">
              <a:xfrm flipV="1">
                <a:off x="2482" y="2146"/>
                <a:ext cx="0" cy="192"/>
              </a:xfrm>
              <a:prstGeom prst="line">
                <a:avLst/>
              </a:prstGeom>
              <a:noFill/>
              <a:ln w="28575" cap="sq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ru-RU"/>
              </a:p>
            </p:txBody>
          </p:sp>
        </p:grpSp>
        <p:sp>
          <p:nvSpPr>
            <p:cNvPr id="145428" name="Rectangle 20"/>
            <p:cNvSpPr>
              <a:spLocks noChangeArrowheads="1"/>
            </p:cNvSpPr>
            <p:nvPr/>
          </p:nvSpPr>
          <p:spPr bwMode="auto">
            <a:xfrm>
              <a:off x="7200900" y="4113213"/>
              <a:ext cx="135165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GB" altLang="ru-RU" sz="1600" dirty="0"/>
                <a:t>[</a:t>
              </a:r>
              <a:r>
                <a:rPr lang="en-GB" altLang="ru-RU" sz="1600" dirty="0" smtClean="0"/>
                <a:t>Gruber</a:t>
              </a:r>
              <a:r>
                <a:rPr lang="ru-RU" altLang="ru-RU" sz="1600" dirty="0" smtClean="0"/>
                <a:t>,19</a:t>
              </a:r>
              <a:r>
                <a:rPr lang="en-GB" altLang="ru-RU" sz="1600" dirty="0" smtClean="0"/>
                <a:t>93</a:t>
              </a:r>
              <a:r>
                <a:rPr lang="en-GB" altLang="ru-RU" sz="1600" dirty="0"/>
                <a:t>]</a:t>
              </a:r>
              <a:endParaRPr lang="en-US" altLang="ru-RU" sz="1600" dirty="0"/>
            </a:p>
          </p:txBody>
        </p:sp>
      </p:grpSp>
      <p:sp>
        <p:nvSpPr>
          <p:cNvPr id="21" name="Объект 2"/>
          <p:cNvSpPr>
            <a:spLocks noGrp="1"/>
          </p:cNvSpPr>
          <p:nvPr>
            <p:ph idx="1"/>
          </p:nvPr>
        </p:nvSpPr>
        <p:spPr>
          <a:xfrm>
            <a:off x="445244" y="5115267"/>
            <a:ext cx="8229600" cy="1423645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ru-RU" sz="1600" b="1" dirty="0"/>
              <a:t>W3C:</a:t>
            </a:r>
            <a:r>
              <a:rPr lang="ru-RU" sz="1600" dirty="0"/>
              <a:t> Онтология - это формальная модель представления знаний в некоторой предметной области. Онтология описывает типы объектов (</a:t>
            </a:r>
            <a:r>
              <a:rPr lang="ru-RU" sz="1600" dirty="0">
                <a:solidFill>
                  <a:srgbClr val="00B050"/>
                </a:solidFill>
              </a:rPr>
              <a:t>классы - </a:t>
            </a:r>
            <a:r>
              <a:rPr lang="en-US" sz="1600" dirty="0">
                <a:solidFill>
                  <a:srgbClr val="00B050"/>
                </a:solidFill>
              </a:rPr>
              <a:t>class</a:t>
            </a:r>
            <a:r>
              <a:rPr lang="ru-RU" sz="1600" dirty="0">
                <a:solidFill>
                  <a:srgbClr val="00B050"/>
                </a:solidFill>
              </a:rPr>
              <a:t>е</a:t>
            </a:r>
            <a:r>
              <a:rPr lang="en-US" sz="1600" dirty="0">
                <a:solidFill>
                  <a:srgbClr val="00B050"/>
                </a:solidFill>
              </a:rPr>
              <a:t>s</a:t>
            </a:r>
            <a:r>
              <a:rPr lang="ru-RU" sz="1600" dirty="0"/>
              <a:t>), взаимосвязи между ними (</a:t>
            </a:r>
            <a:r>
              <a:rPr lang="ru-RU" sz="1600" dirty="0">
                <a:solidFill>
                  <a:srgbClr val="0070C0"/>
                </a:solidFill>
              </a:rPr>
              <a:t>свойства -  </a:t>
            </a:r>
            <a:r>
              <a:rPr lang="en-US" sz="1600" dirty="0">
                <a:solidFill>
                  <a:srgbClr val="0070C0"/>
                </a:solidFill>
              </a:rPr>
              <a:t>properties</a:t>
            </a:r>
            <a:r>
              <a:rPr lang="ru-RU" sz="1600" dirty="0"/>
              <a:t>), и способы совместного использования классов и свойств (</a:t>
            </a:r>
            <a:r>
              <a:rPr lang="ru-RU" sz="1600" dirty="0">
                <a:solidFill>
                  <a:schemeClr val="accent6">
                    <a:lumMod val="75000"/>
                  </a:schemeClr>
                </a:solidFill>
              </a:rPr>
              <a:t>аксиомы -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axioms</a:t>
            </a:r>
            <a:r>
              <a:rPr lang="ru-RU" sz="1600" dirty="0"/>
              <a:t>). </a:t>
            </a:r>
            <a:r>
              <a:rPr lang="ru-RU" sz="1600" dirty="0" smtClean="0">
                <a:solidFill>
                  <a:srgbClr val="FF0000"/>
                </a:solidFill>
              </a:rPr>
              <a:t> А </a:t>
            </a:r>
            <a:r>
              <a:rPr lang="ru-RU" sz="1600" dirty="0" smtClean="0">
                <a:solidFill>
                  <a:srgbClr val="FF0000"/>
                </a:solidFill>
              </a:rPr>
              <a:t>экземпляры (</a:t>
            </a:r>
            <a:r>
              <a:rPr lang="en-US" sz="1600" dirty="0" smtClean="0">
                <a:solidFill>
                  <a:srgbClr val="FF0000"/>
                </a:solidFill>
              </a:rPr>
              <a:t>individuals</a:t>
            </a:r>
            <a:r>
              <a:rPr lang="ru-RU" sz="1600" dirty="0" smtClean="0">
                <a:solidFill>
                  <a:srgbClr val="FF0000"/>
                </a:solidFill>
              </a:rPr>
              <a:t>)???</a:t>
            </a:r>
            <a:endParaRPr lang="ru-RU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89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06622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Онтология: аксиомы и факты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-108520" y="1052736"/>
            <a:ext cx="8575402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altLang="ru-RU" sz="2200" b="1" dirty="0" smtClean="0">
                <a:solidFill>
                  <a:srgbClr val="00B050"/>
                </a:solidFill>
              </a:rPr>
              <a:t>Аксиомы</a:t>
            </a:r>
            <a:r>
              <a:rPr lang="ru-RU" altLang="ru-RU" sz="2200" dirty="0" smtClean="0"/>
              <a:t>   </a:t>
            </a:r>
            <a:r>
              <a:rPr lang="ru-RU" altLang="ru-RU" sz="2200" dirty="0"/>
              <a:t>– аналог </a:t>
            </a:r>
            <a:r>
              <a:rPr lang="ru-RU" altLang="ru-RU" sz="2200" b="1" dirty="0">
                <a:solidFill>
                  <a:srgbClr val="00B050"/>
                </a:solidFill>
              </a:rPr>
              <a:t>схемы</a:t>
            </a:r>
            <a:r>
              <a:rPr lang="ru-RU" altLang="ru-RU" sz="2200" dirty="0"/>
              <a:t> БД</a:t>
            </a:r>
            <a:endParaRPr lang="en-US" altLang="ru-RU" sz="2200" dirty="0"/>
          </a:p>
          <a:p>
            <a:pPr lvl="2"/>
            <a:r>
              <a:rPr lang="ru-RU" altLang="ru-RU" sz="2200" dirty="0" smtClean="0"/>
              <a:t>Определяют структуру модели: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u-RU" altLang="ru-RU" sz="2200" dirty="0" smtClean="0"/>
              <a:t>иерархии классов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u-RU" altLang="ru-RU" sz="2200" dirty="0"/>
              <a:t>и</a:t>
            </a:r>
            <a:r>
              <a:rPr lang="ru-RU" altLang="ru-RU" sz="2200" dirty="0" smtClean="0"/>
              <a:t>ерархии свойств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u-RU" altLang="ru-RU" sz="2200" dirty="0"/>
              <a:t>о</a:t>
            </a:r>
            <a:r>
              <a:rPr lang="ru-RU" altLang="ru-RU" sz="2200" dirty="0" smtClean="0"/>
              <a:t>граничения на классы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u-RU" altLang="ru-RU" sz="2200" dirty="0"/>
              <a:t>о</a:t>
            </a:r>
            <a:r>
              <a:rPr lang="ru-RU" altLang="ru-RU" sz="2200" dirty="0" smtClean="0"/>
              <a:t>граничения на свойства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u-RU" altLang="ru-RU" sz="2200" dirty="0" smtClean="0"/>
              <a:t>ограничения на совместное </a:t>
            </a:r>
          </a:p>
          <a:p>
            <a:pPr lvl="2"/>
            <a:r>
              <a:rPr lang="ru-RU" altLang="ru-RU" sz="2200" dirty="0"/>
              <a:t>и</a:t>
            </a:r>
            <a:r>
              <a:rPr lang="ru-RU" altLang="ru-RU" sz="2200" dirty="0" smtClean="0"/>
              <a:t>спользование  классов и свойств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ru-RU" altLang="ru-RU" sz="2200" b="1" dirty="0" smtClean="0">
              <a:solidFill>
                <a:srgbClr val="00B05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altLang="ru-RU" sz="2200" b="1" dirty="0" smtClean="0">
                <a:solidFill>
                  <a:srgbClr val="00B050"/>
                </a:solidFill>
              </a:rPr>
              <a:t>Факты</a:t>
            </a:r>
            <a:r>
              <a:rPr lang="ru-RU" altLang="ru-RU" sz="2200" dirty="0" smtClean="0"/>
              <a:t> определяют конкретные наборы данных - </a:t>
            </a:r>
            <a:r>
              <a:rPr lang="ru-RU" altLang="ru-RU" sz="2200" dirty="0"/>
              <a:t>аналог </a:t>
            </a:r>
            <a:r>
              <a:rPr lang="ru-RU" altLang="ru-RU" sz="2200" b="1" dirty="0">
                <a:solidFill>
                  <a:srgbClr val="00B050"/>
                </a:solidFill>
              </a:rPr>
              <a:t>данных</a:t>
            </a:r>
            <a:r>
              <a:rPr lang="ru-RU" altLang="ru-RU" sz="2200" dirty="0"/>
              <a:t> в БД</a:t>
            </a:r>
            <a:endParaRPr lang="en-US" altLang="ru-RU" sz="22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u-RU" altLang="ru-RU" sz="2200" dirty="0" smtClean="0"/>
              <a:t>Принадлежность индивида к классу,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u-RU" altLang="ru-RU" sz="2200" dirty="0" smtClean="0"/>
              <a:t>Наличие у индивида некоторых свойств,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ru-RU" altLang="ru-RU" sz="2200" dirty="0" smtClean="0"/>
              <a:t>Связь индивидов друг с другом через свойства.</a:t>
            </a:r>
            <a:r>
              <a:rPr lang="ru-RU" altLang="ru-RU" sz="2400" dirty="0" smtClean="0"/>
              <a:t> </a:t>
            </a:r>
          </a:p>
          <a:p>
            <a:pPr lvl="1"/>
            <a:endParaRPr lang="ru-RU" altLang="ru-RU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5563517" y="2171750"/>
            <a:ext cx="356388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ru-RU" altLang="ru-RU" sz="2200" dirty="0" smtClean="0"/>
              <a:t>определяют </a:t>
            </a:r>
            <a:r>
              <a:rPr lang="ru-RU" altLang="ru-RU" sz="2200" dirty="0">
                <a:solidFill>
                  <a:srgbClr val="00B050"/>
                </a:solidFill>
              </a:rPr>
              <a:t>семантику и правила логического вывода </a:t>
            </a:r>
            <a:r>
              <a:rPr lang="ru-RU" altLang="ru-RU" sz="2200" dirty="0"/>
              <a:t>(например, язык </a:t>
            </a:r>
            <a:r>
              <a:rPr lang="en-US" altLang="ru-RU" sz="2200" dirty="0"/>
              <a:t>OWL </a:t>
            </a:r>
            <a:r>
              <a:rPr lang="ru-RU" altLang="ru-RU" sz="2200" dirty="0"/>
              <a:t>основан на дескрипционных логиках)</a:t>
            </a:r>
          </a:p>
        </p:txBody>
      </p:sp>
      <p:sp>
        <p:nvSpPr>
          <p:cNvPr id="7" name="Правая фигурная скобка 6"/>
          <p:cNvSpPr/>
          <p:nvPr/>
        </p:nvSpPr>
        <p:spPr>
          <a:xfrm>
            <a:off x="4366320" y="2420888"/>
            <a:ext cx="1197197" cy="153596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907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516" y="-18256"/>
            <a:ext cx="8579296" cy="1143000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Пример онтологии: </a:t>
            </a:r>
            <a:r>
              <a:rPr lang="ru-RU" sz="3600" dirty="0"/>
              <a:t>аксиомы и факты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3933056"/>
            <a:ext cx="8363272" cy="2808312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smtClean="0">
                <a:solidFill>
                  <a:srgbClr val="00B050"/>
                </a:solidFill>
              </a:rPr>
              <a:t>Аксиомы</a:t>
            </a:r>
          </a:p>
          <a:p>
            <a:pPr lvl="1"/>
            <a:r>
              <a:rPr lang="ru-RU" b="1" dirty="0" smtClean="0">
                <a:solidFill>
                  <a:srgbClr val="FFC000"/>
                </a:solidFill>
              </a:rPr>
              <a:t>Университет</a:t>
            </a:r>
            <a:r>
              <a:rPr lang="ru-RU" dirty="0" smtClean="0"/>
              <a:t>-это класс и подкласс класса </a:t>
            </a:r>
            <a:r>
              <a:rPr lang="ru-RU" b="1" dirty="0" smtClean="0">
                <a:solidFill>
                  <a:srgbClr val="FFC000"/>
                </a:solidFill>
              </a:rPr>
              <a:t>Организация</a:t>
            </a:r>
          </a:p>
          <a:p>
            <a:pPr lvl="1"/>
            <a:r>
              <a:rPr lang="ru-RU" b="1" dirty="0" smtClean="0">
                <a:solidFill>
                  <a:srgbClr val="FF0000"/>
                </a:solidFill>
              </a:rPr>
              <a:t>Является бюджетным студентом- </a:t>
            </a:r>
            <a:r>
              <a:rPr lang="ru-RU" dirty="0" smtClean="0"/>
              <a:t>это свойство и подсвойство свойства </a:t>
            </a:r>
            <a:r>
              <a:rPr lang="ru-RU" b="1" dirty="0" smtClean="0">
                <a:solidFill>
                  <a:srgbClr val="FF0000"/>
                </a:solidFill>
              </a:rPr>
              <a:t>является студентом</a:t>
            </a:r>
          </a:p>
          <a:p>
            <a:pPr lvl="1"/>
            <a:r>
              <a:rPr lang="ru-RU" b="1" dirty="0" smtClean="0">
                <a:solidFill>
                  <a:schemeClr val="accent2">
                    <a:lumMod val="75000"/>
                  </a:schemeClr>
                </a:solidFill>
              </a:rPr>
              <a:t>Каждый </a:t>
            </a:r>
            <a:r>
              <a:rPr lang="ru-RU" b="1" dirty="0" smtClean="0">
                <a:solidFill>
                  <a:srgbClr val="FFC000"/>
                </a:solidFill>
              </a:rPr>
              <a:t>Студент</a:t>
            </a:r>
            <a:r>
              <a:rPr lang="ru-RU" b="1" dirty="0" smtClean="0">
                <a:solidFill>
                  <a:srgbClr val="FF0000"/>
                </a:solidFill>
              </a:rPr>
              <a:t> является студентом </a:t>
            </a:r>
            <a:r>
              <a:rPr lang="ru-RU" b="1" dirty="0" smtClean="0">
                <a:solidFill>
                  <a:schemeClr val="accent2">
                    <a:lumMod val="75000"/>
                  </a:schemeClr>
                </a:solidFill>
              </a:rPr>
              <a:t>хотя бы одного </a:t>
            </a:r>
            <a:r>
              <a:rPr lang="ru-RU" b="1" dirty="0" smtClean="0">
                <a:solidFill>
                  <a:srgbClr val="FFC000"/>
                </a:solidFill>
              </a:rPr>
              <a:t>Университета</a:t>
            </a:r>
          </a:p>
          <a:p>
            <a:r>
              <a:rPr lang="ru-RU" b="1" dirty="0" smtClean="0">
                <a:solidFill>
                  <a:srgbClr val="00B050"/>
                </a:solidFill>
              </a:rPr>
              <a:t>Факты</a:t>
            </a:r>
          </a:p>
          <a:p>
            <a:pPr lvl="1"/>
            <a:r>
              <a:rPr lang="ru-RU" b="1" dirty="0" smtClean="0"/>
              <a:t>Иванов</a:t>
            </a:r>
            <a:r>
              <a:rPr lang="ru-RU" dirty="0" smtClean="0"/>
              <a:t>- это индивид класса </a:t>
            </a:r>
            <a:r>
              <a:rPr lang="ru-RU" b="1" dirty="0" smtClean="0">
                <a:solidFill>
                  <a:srgbClr val="FFC000"/>
                </a:solidFill>
              </a:rPr>
              <a:t>Студент</a:t>
            </a:r>
          </a:p>
          <a:p>
            <a:pPr lvl="1"/>
            <a:r>
              <a:rPr lang="ru-RU" b="1" dirty="0" smtClean="0"/>
              <a:t>Петров</a:t>
            </a:r>
            <a:r>
              <a:rPr lang="ru-RU" dirty="0" smtClean="0"/>
              <a:t> связан свойством </a:t>
            </a:r>
            <a:r>
              <a:rPr lang="ru-RU" b="1" dirty="0" smtClean="0">
                <a:solidFill>
                  <a:srgbClr val="FF0000"/>
                </a:solidFill>
              </a:rPr>
              <a:t>является студентом </a:t>
            </a:r>
            <a:r>
              <a:rPr lang="ru-RU" dirty="0" smtClean="0"/>
              <a:t>с </a:t>
            </a:r>
            <a:r>
              <a:rPr lang="ru-RU" b="1" dirty="0" smtClean="0"/>
              <a:t>СГТУ</a:t>
            </a:r>
          </a:p>
          <a:p>
            <a:pPr lvl="1"/>
            <a:r>
              <a:rPr lang="ru-RU" b="1" dirty="0" smtClean="0"/>
              <a:t>Иванов</a:t>
            </a:r>
            <a:r>
              <a:rPr lang="ru-RU" dirty="0" smtClean="0"/>
              <a:t> в качестве значения свойства  </a:t>
            </a:r>
            <a:r>
              <a:rPr lang="ru-RU" b="1" dirty="0" smtClean="0">
                <a:solidFill>
                  <a:srgbClr val="FF0000"/>
                </a:solidFill>
              </a:rPr>
              <a:t>курс</a:t>
            </a:r>
            <a:r>
              <a:rPr lang="ru-RU" dirty="0" smtClean="0"/>
              <a:t> имеет </a:t>
            </a:r>
            <a:r>
              <a:rPr lang="en-US" b="1" dirty="0" smtClean="0">
                <a:solidFill>
                  <a:srgbClr val="0070C0"/>
                </a:solidFill>
              </a:rPr>
              <a:t>“</a:t>
            </a:r>
            <a:r>
              <a:rPr lang="ru-RU" b="1" dirty="0" smtClean="0">
                <a:solidFill>
                  <a:srgbClr val="0070C0"/>
                </a:solidFill>
              </a:rPr>
              <a:t>2</a:t>
            </a:r>
            <a:r>
              <a:rPr lang="en-US" b="1" dirty="0" smtClean="0">
                <a:solidFill>
                  <a:srgbClr val="0070C0"/>
                </a:solidFill>
              </a:rPr>
              <a:t>”</a:t>
            </a:r>
            <a:r>
              <a:rPr lang="ru-RU" dirty="0" smtClean="0"/>
              <a:t> </a:t>
            </a: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t="6279"/>
          <a:stretch/>
        </p:blipFill>
        <p:spPr>
          <a:xfrm>
            <a:off x="1475656" y="852862"/>
            <a:ext cx="5787053" cy="308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2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Онтологии и базы данных: Различия</a:t>
            </a:r>
            <a:endParaRPr lang="ru-RU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23530" y="1196752"/>
            <a:ext cx="4248470" cy="525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ru-RU" altLang="ru-RU" sz="2400" b="1" dirty="0" smtClean="0"/>
              <a:t>База данных</a:t>
            </a:r>
            <a:r>
              <a:rPr lang="en-US" altLang="ru-RU" sz="2400" b="1" dirty="0" smtClean="0"/>
              <a:t>:</a:t>
            </a:r>
            <a:endParaRPr lang="en-US" altLang="ru-RU" sz="2000" dirty="0" smtClean="0"/>
          </a:p>
          <a:p>
            <a:r>
              <a:rPr lang="ru-RU" altLang="ru-RU" sz="2000" dirty="0" smtClean="0"/>
              <a:t>Предположение о закрытости мира </a:t>
            </a:r>
            <a:r>
              <a:rPr lang="en-US" altLang="ru-RU" sz="2000" dirty="0" smtClean="0"/>
              <a:t>(</a:t>
            </a:r>
            <a:r>
              <a:rPr lang="en-US" altLang="ru-RU" sz="2000" b="1" dirty="0" smtClean="0">
                <a:solidFill>
                  <a:srgbClr val="00B050"/>
                </a:solidFill>
              </a:rPr>
              <a:t>CWA</a:t>
            </a:r>
            <a:r>
              <a:rPr lang="en-US" altLang="ru-RU" sz="2000" dirty="0" smtClean="0"/>
              <a:t>)</a:t>
            </a:r>
          </a:p>
          <a:p>
            <a:pPr lvl="1"/>
            <a:r>
              <a:rPr lang="ru-RU" altLang="ru-RU" sz="1800" dirty="0" smtClean="0"/>
              <a:t>Отсутствующая информация рассматривается как ложная</a:t>
            </a:r>
            <a:endParaRPr lang="en-US" altLang="ru-RU" sz="1800" dirty="0" smtClean="0"/>
          </a:p>
          <a:p>
            <a:r>
              <a:rPr lang="ru-RU" altLang="ru-RU" sz="2000" dirty="0" smtClean="0"/>
              <a:t>Предположение об уникальности имен </a:t>
            </a:r>
            <a:r>
              <a:rPr lang="en-US" altLang="ru-RU" sz="2000" dirty="0" smtClean="0"/>
              <a:t>(</a:t>
            </a:r>
            <a:r>
              <a:rPr lang="en-US" altLang="ru-RU" sz="2000" b="1" dirty="0" smtClean="0">
                <a:solidFill>
                  <a:srgbClr val="00B050"/>
                </a:solidFill>
              </a:rPr>
              <a:t>UNA</a:t>
            </a:r>
            <a:r>
              <a:rPr lang="en-US" altLang="ru-RU" sz="2000" dirty="0" smtClean="0"/>
              <a:t>)</a:t>
            </a:r>
          </a:p>
          <a:p>
            <a:pPr lvl="1"/>
            <a:r>
              <a:rPr lang="ru-RU" altLang="ru-RU" sz="1800" dirty="0" smtClean="0"/>
              <a:t>Каждый индивид имеет единственное уникальное имя </a:t>
            </a:r>
            <a:endParaRPr lang="en-US" altLang="ru-RU" sz="1800" dirty="0" smtClean="0"/>
          </a:p>
          <a:p>
            <a:r>
              <a:rPr lang="ru-RU" altLang="ru-RU" sz="2000" dirty="0" smtClean="0"/>
              <a:t>Схема БД задает </a:t>
            </a:r>
            <a:r>
              <a:rPr lang="ru-RU" altLang="ru-RU" sz="2000" b="1" dirty="0" smtClean="0">
                <a:solidFill>
                  <a:srgbClr val="00B050"/>
                </a:solidFill>
              </a:rPr>
              <a:t>ограничение</a:t>
            </a:r>
            <a:r>
              <a:rPr lang="ru-RU" altLang="ru-RU" sz="2000" dirty="0" smtClean="0"/>
              <a:t> на структуру данных</a:t>
            </a:r>
            <a:endParaRPr lang="en-US" altLang="ru-RU" sz="2000" dirty="0" smtClean="0"/>
          </a:p>
          <a:p>
            <a:pPr lvl="1"/>
            <a:r>
              <a:rPr lang="ru-RU" altLang="ru-RU" sz="1800" dirty="0" smtClean="0"/>
              <a:t>определяются все допустимые комбинации данных. </a:t>
            </a:r>
            <a:endParaRPr lang="en-US" altLang="ru-RU" sz="1800" dirty="0" smtClean="0"/>
          </a:p>
          <a:p>
            <a:pPr marL="0" indent="0">
              <a:buNone/>
            </a:pPr>
            <a:endParaRPr lang="en-US" altLang="ru-RU" sz="2000" dirty="0"/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4572000" y="1196752"/>
            <a:ext cx="4433041" cy="489654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ru-RU" altLang="ru-RU" sz="2400" b="1" dirty="0" smtClean="0"/>
              <a:t>Онтология</a:t>
            </a:r>
            <a:r>
              <a:rPr lang="en-US" altLang="ru-RU" sz="2400" b="1" dirty="0" smtClean="0"/>
              <a:t>:</a:t>
            </a:r>
            <a:endParaRPr lang="en-US" altLang="ru-RU" sz="2000" dirty="0" smtClean="0"/>
          </a:p>
          <a:p>
            <a:r>
              <a:rPr lang="ru-RU" altLang="ru-RU" sz="2000" dirty="0"/>
              <a:t>Предположение об открытости мира </a:t>
            </a:r>
            <a:r>
              <a:rPr lang="en-US" altLang="ru-RU" sz="2400" dirty="0" smtClean="0"/>
              <a:t>(</a:t>
            </a:r>
            <a:r>
              <a:rPr lang="en-US" altLang="ru-RU" sz="2000" b="1" dirty="0" smtClean="0">
                <a:solidFill>
                  <a:srgbClr val="00B050"/>
                </a:solidFill>
              </a:rPr>
              <a:t>OWA</a:t>
            </a:r>
            <a:r>
              <a:rPr lang="en-US" altLang="ru-RU" sz="2400" dirty="0" smtClean="0"/>
              <a:t>)</a:t>
            </a:r>
          </a:p>
          <a:p>
            <a:pPr lvl="1">
              <a:lnSpc>
                <a:spcPct val="90000"/>
              </a:lnSpc>
            </a:pPr>
            <a:r>
              <a:rPr lang="ru-RU" altLang="ru-RU" sz="1800" dirty="0"/>
              <a:t>Отсутствующая информация рассматривается как неизвестная</a:t>
            </a:r>
            <a:endParaRPr lang="en-US" altLang="ru-RU" sz="1800" dirty="0"/>
          </a:p>
          <a:p>
            <a:pPr>
              <a:lnSpc>
                <a:spcPct val="90000"/>
              </a:lnSpc>
            </a:pPr>
            <a:r>
              <a:rPr lang="ru-RU" altLang="ru-RU" sz="2000" dirty="0"/>
              <a:t>Отсутствие предположения об уникальности имен (</a:t>
            </a:r>
            <a:r>
              <a:rPr lang="en-US" altLang="ru-RU" sz="2000" dirty="0"/>
              <a:t>No UNA</a:t>
            </a:r>
            <a:r>
              <a:rPr lang="ru-RU" altLang="ru-RU" sz="2000" dirty="0"/>
              <a:t>)</a:t>
            </a:r>
            <a:endParaRPr lang="en-US" altLang="ru-RU" sz="2000" dirty="0"/>
          </a:p>
          <a:p>
            <a:pPr lvl="1">
              <a:lnSpc>
                <a:spcPct val="90000"/>
              </a:lnSpc>
            </a:pPr>
            <a:r>
              <a:rPr lang="ru-RU" altLang="ru-RU" sz="1800" dirty="0"/>
              <a:t>Индивид может иметь более одного имени</a:t>
            </a:r>
            <a:endParaRPr lang="en-US" altLang="ru-RU" sz="1800" dirty="0"/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ru-RU" altLang="ru-RU" sz="2000" dirty="0" smtClean="0"/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ru-RU" altLang="ru-RU" sz="2000" dirty="0" smtClean="0"/>
              <a:t>Аксиомы </a:t>
            </a:r>
            <a:r>
              <a:rPr lang="ru-RU" altLang="ru-RU" sz="2000" dirty="0"/>
              <a:t>онтологии определяют </a:t>
            </a:r>
            <a:r>
              <a:rPr lang="ru-RU" altLang="ru-RU" sz="2000" b="1" dirty="0">
                <a:solidFill>
                  <a:srgbClr val="00B050"/>
                </a:solidFill>
              </a:rPr>
              <a:t>правила вывода</a:t>
            </a:r>
            <a:endParaRPr lang="en-US" altLang="ru-RU" sz="2000" b="1" dirty="0">
              <a:solidFill>
                <a:srgbClr val="00B050"/>
              </a:solidFill>
            </a:endParaRPr>
          </a:p>
          <a:p>
            <a:pPr lvl="1">
              <a:lnSpc>
                <a:spcPct val="90000"/>
              </a:lnSpc>
            </a:pPr>
            <a:r>
              <a:rPr lang="ru-RU" altLang="ru-RU" sz="1800" dirty="0"/>
              <a:t>Предполагается возможность получение новых комбинаций </a:t>
            </a:r>
            <a:r>
              <a:rPr lang="ru-RU" altLang="ru-RU" sz="1800" dirty="0" smtClean="0"/>
              <a:t>данных</a:t>
            </a:r>
          </a:p>
        </p:txBody>
      </p:sp>
    </p:spTree>
    <p:extLst>
      <p:ext uri="{BB962C8B-B14F-4D97-AF65-F5344CB8AC3E}">
        <p14:creationId xmlns:p14="http://schemas.microsoft.com/office/powerpoint/2010/main" val="299438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Онтологии и базы данных: </a:t>
            </a:r>
            <a:r>
              <a:rPr lang="ru-RU" dirty="0" smtClean="0"/>
              <a:t>Запросы</a:t>
            </a:r>
            <a:endParaRPr lang="ru-RU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23530" y="1417638"/>
            <a:ext cx="4248470" cy="525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ru-RU" altLang="ru-RU" sz="2000" b="1" dirty="0" smtClean="0"/>
              <a:t>База данных</a:t>
            </a:r>
            <a:r>
              <a:rPr lang="en-US" altLang="ru-RU" sz="2000" b="1" dirty="0" smtClean="0"/>
              <a:t>:</a:t>
            </a:r>
            <a:endParaRPr lang="en-US" altLang="ru-RU" sz="1800" dirty="0" smtClean="0"/>
          </a:p>
          <a:p>
            <a:r>
              <a:rPr lang="ru-RU" altLang="ru-RU" sz="2400" dirty="0" smtClean="0"/>
              <a:t>Запросы </a:t>
            </a:r>
            <a:r>
              <a:rPr lang="ru-RU" altLang="ru-RU" sz="2400" b="1" dirty="0" smtClean="0">
                <a:solidFill>
                  <a:srgbClr val="00B050"/>
                </a:solidFill>
              </a:rPr>
              <a:t>только к данным </a:t>
            </a:r>
          </a:p>
          <a:p>
            <a:pPr lvl="1"/>
            <a:endParaRPr lang="ru-RU" altLang="ru-RU" sz="1800" dirty="0" smtClean="0"/>
          </a:p>
          <a:p>
            <a:pPr lvl="1"/>
            <a:r>
              <a:rPr lang="ru-RU" altLang="ru-RU" sz="1800" dirty="0" smtClean="0"/>
              <a:t>Схема </a:t>
            </a:r>
            <a:r>
              <a:rPr lang="ru-RU" altLang="ru-RU" sz="1800" dirty="0"/>
              <a:t>базы данных не влияет на выполнение запроса, так данные по умолчанию удовлетворяют схеме</a:t>
            </a:r>
          </a:p>
          <a:p>
            <a:pPr lvl="1"/>
            <a:r>
              <a:rPr lang="ru-RU" altLang="ru-RU" sz="1800" dirty="0" smtClean="0"/>
              <a:t>Запросы эффективно реализуются</a:t>
            </a:r>
            <a:endParaRPr lang="en-US" altLang="ru-RU" sz="1800" dirty="0" smtClean="0"/>
          </a:p>
          <a:p>
            <a:pPr lvl="1"/>
            <a:endParaRPr lang="en-US" altLang="ru-RU" sz="1800" dirty="0" smtClean="0"/>
          </a:p>
          <a:p>
            <a:endParaRPr lang="en-US" altLang="ru-RU" sz="2000" dirty="0"/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4382269" y="1413669"/>
            <a:ext cx="4433041" cy="458311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ru-RU" altLang="ru-RU" sz="2000" b="1" dirty="0" smtClean="0"/>
              <a:t>Онтология</a:t>
            </a:r>
            <a:r>
              <a:rPr lang="en-US" altLang="ru-RU" sz="2000" b="1" dirty="0" smtClean="0"/>
              <a:t>:</a:t>
            </a:r>
            <a:endParaRPr lang="en-US" altLang="ru-RU" sz="1800" dirty="0" smtClean="0"/>
          </a:p>
          <a:p>
            <a:pPr>
              <a:lnSpc>
                <a:spcPct val="90000"/>
              </a:lnSpc>
            </a:pPr>
            <a:r>
              <a:rPr lang="ru-RU" altLang="ru-RU" sz="2400" dirty="0" smtClean="0"/>
              <a:t>Запросы </a:t>
            </a:r>
            <a:r>
              <a:rPr lang="ru-RU" altLang="ru-RU" sz="2400" b="1" dirty="0" smtClean="0">
                <a:solidFill>
                  <a:srgbClr val="00B050"/>
                </a:solidFill>
              </a:rPr>
              <a:t>как к данным так и к схеме </a:t>
            </a:r>
          </a:p>
          <a:p>
            <a:pPr lvl="1">
              <a:lnSpc>
                <a:spcPct val="90000"/>
              </a:lnSpc>
            </a:pPr>
            <a:r>
              <a:rPr lang="ru-RU" altLang="ru-RU" sz="1800" dirty="0" smtClean="0"/>
              <a:t>Схема данных играет важнейшую роль, позволяя получать новые связи между данными </a:t>
            </a:r>
          </a:p>
          <a:p>
            <a:pPr lvl="1">
              <a:lnSpc>
                <a:spcPct val="90000"/>
              </a:lnSpc>
            </a:pPr>
            <a:r>
              <a:rPr lang="ru-RU" altLang="ru-RU" sz="1800" dirty="0" smtClean="0"/>
              <a:t>Выполнение запроса к схеме данных может представлять собой доказательство теоремы</a:t>
            </a:r>
          </a:p>
          <a:p>
            <a:pPr lvl="1">
              <a:lnSpc>
                <a:spcPct val="90000"/>
              </a:lnSpc>
            </a:pPr>
            <a:r>
              <a:rPr lang="ru-RU" altLang="ru-RU" sz="1800" dirty="0" smtClean="0"/>
              <a:t>Например</a:t>
            </a:r>
            <a:r>
              <a:rPr lang="ru-RU" altLang="ru-RU" sz="1800" dirty="0"/>
              <a:t>, для </a:t>
            </a:r>
            <a:r>
              <a:rPr lang="ru-RU" altLang="ru-RU" sz="1800" dirty="0" smtClean="0"/>
              <a:t>языка OWL  задача вывода - NP-полная (</a:t>
            </a:r>
            <a:r>
              <a:rPr lang="ru-RU" altLang="ru-RU" sz="1800" dirty="0"/>
              <a:t>верхняя граница - открытая проблема)</a:t>
            </a:r>
            <a:endParaRPr lang="en-US" altLang="ru-RU" sz="1800" dirty="0"/>
          </a:p>
          <a:p>
            <a:endParaRPr lang="en-US" altLang="ru-RU" sz="2000" dirty="0"/>
          </a:p>
        </p:txBody>
      </p:sp>
    </p:spTree>
    <p:extLst>
      <p:ext uri="{BB962C8B-B14F-4D97-AF65-F5344CB8AC3E}">
        <p14:creationId xmlns:p14="http://schemas.microsoft.com/office/powerpoint/2010/main" val="347706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100" y="47667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Онтологии и базы данных: Использование в информационных системах</a:t>
            </a:r>
            <a:endParaRPr lang="ru-RU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06413" y="2348880"/>
            <a:ext cx="4002087" cy="525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ru-RU" altLang="ru-RU" sz="2000" b="1" dirty="0" smtClean="0"/>
              <a:t>База данных</a:t>
            </a:r>
            <a:r>
              <a:rPr lang="en-US" altLang="ru-RU" sz="2000" b="1" dirty="0" smtClean="0"/>
              <a:t>:</a:t>
            </a:r>
            <a:endParaRPr lang="ru-RU" altLang="ru-RU" sz="2000" b="1" dirty="0"/>
          </a:p>
          <a:p>
            <a:r>
              <a:rPr lang="ru-RU" altLang="ru-RU" sz="1800" dirty="0"/>
              <a:t>Схема </a:t>
            </a:r>
            <a:r>
              <a:rPr lang="ru-RU" altLang="ru-RU" sz="1800" dirty="0" smtClean="0"/>
              <a:t>данных небольшая  и/или простая и/или </a:t>
            </a:r>
            <a:r>
              <a:rPr lang="ru-RU" altLang="ru-RU" sz="1800" dirty="0"/>
              <a:t>не используется во время запроса</a:t>
            </a:r>
          </a:p>
          <a:p>
            <a:r>
              <a:rPr lang="ru-RU" altLang="ru-RU" sz="1800" dirty="0" smtClean="0"/>
              <a:t>Доступна полная информация</a:t>
            </a:r>
          </a:p>
          <a:p>
            <a:pPr lvl="1"/>
            <a:r>
              <a:rPr lang="ru-RU" altLang="ru-RU" sz="1400" dirty="0" smtClean="0"/>
              <a:t>Например</a:t>
            </a:r>
            <a:r>
              <a:rPr lang="ru-RU" altLang="ru-RU" sz="1400" dirty="0"/>
              <a:t>, система бронирования билетов</a:t>
            </a:r>
          </a:p>
          <a:p>
            <a:r>
              <a:rPr lang="ru-RU" altLang="ru-RU" sz="1800" dirty="0" smtClean="0"/>
              <a:t>Необходимы </a:t>
            </a:r>
            <a:r>
              <a:rPr lang="ru-RU" altLang="ru-RU" sz="1800" dirty="0"/>
              <a:t>гарантии </a:t>
            </a:r>
            <a:r>
              <a:rPr lang="ru-RU" altLang="ru-RU" sz="1800" dirty="0" smtClean="0"/>
              <a:t>производительности</a:t>
            </a:r>
          </a:p>
          <a:p>
            <a:pPr>
              <a:buFontTx/>
              <a:buNone/>
            </a:pPr>
            <a:endParaRPr lang="en-US" altLang="ru-RU" sz="1800" dirty="0"/>
          </a:p>
          <a:p>
            <a:pPr>
              <a:buFontTx/>
              <a:buNone/>
            </a:pPr>
            <a:endParaRPr lang="en-US" altLang="ru-RU" sz="1800" dirty="0" smtClean="0"/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4708500" y="2204864"/>
            <a:ext cx="3886200" cy="458311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ru-RU" altLang="ru-RU" sz="2000" b="1" dirty="0" smtClean="0"/>
              <a:t>Онтология</a:t>
            </a:r>
            <a:r>
              <a:rPr lang="en-US" altLang="ru-RU" sz="2000" b="1" dirty="0" smtClean="0"/>
              <a:t>:</a:t>
            </a:r>
            <a:endParaRPr lang="ru-RU" altLang="ru-RU" sz="2000" b="1" dirty="0" smtClean="0"/>
          </a:p>
          <a:p>
            <a:r>
              <a:rPr lang="ru-RU" altLang="ru-RU" sz="1800" dirty="0" smtClean="0"/>
              <a:t>Схема данных большая и</a:t>
            </a:r>
            <a:r>
              <a:rPr lang="en-US" altLang="ru-RU" sz="1800" dirty="0" smtClean="0"/>
              <a:t>/</a:t>
            </a:r>
            <a:r>
              <a:rPr lang="ru-RU" altLang="ru-RU" sz="1800" dirty="0" smtClean="0"/>
              <a:t>или </a:t>
            </a:r>
            <a:r>
              <a:rPr lang="ru-RU" altLang="ru-RU" sz="1800" dirty="0"/>
              <a:t>сложная </a:t>
            </a:r>
            <a:r>
              <a:rPr lang="ru-RU" altLang="ru-RU" sz="1800" dirty="0" smtClean="0"/>
              <a:t>и/или </a:t>
            </a:r>
            <a:r>
              <a:rPr lang="ru-RU" altLang="ru-RU" sz="1800" dirty="0"/>
              <a:t>используется во время запроса</a:t>
            </a:r>
          </a:p>
          <a:p>
            <a:pPr lvl="1"/>
            <a:r>
              <a:rPr lang="ru-RU" altLang="ru-RU" sz="1400" dirty="0" smtClean="0"/>
              <a:t>Необходим вывод на знаниях</a:t>
            </a:r>
          </a:p>
          <a:p>
            <a:pPr lvl="1"/>
            <a:r>
              <a:rPr lang="ru-RU" altLang="ru-RU" sz="1400" dirty="0" smtClean="0"/>
              <a:t>Необходима аргументация полученных выводов</a:t>
            </a:r>
            <a:endParaRPr lang="ru-RU" altLang="ru-RU" sz="1400" dirty="0"/>
          </a:p>
          <a:p>
            <a:r>
              <a:rPr lang="ru-RU" altLang="ru-RU" sz="1800" dirty="0" smtClean="0"/>
              <a:t>Невозможно/нерационально получить полную </a:t>
            </a:r>
            <a:r>
              <a:rPr lang="ru-RU" altLang="ru-RU" sz="1800" dirty="0"/>
              <a:t>информацию</a:t>
            </a:r>
          </a:p>
          <a:p>
            <a:pPr lvl="1"/>
            <a:r>
              <a:rPr lang="ru-RU" altLang="ru-RU" sz="1400" dirty="0"/>
              <a:t>Например, моделирование сложных структур или видов </a:t>
            </a:r>
            <a:r>
              <a:rPr lang="ru-RU" altLang="ru-RU" sz="1400" dirty="0" smtClean="0"/>
              <a:t>деятельности</a:t>
            </a:r>
          </a:p>
          <a:p>
            <a:r>
              <a:rPr lang="ru-RU" altLang="ru-RU" sz="1800" dirty="0" smtClean="0"/>
              <a:t>Необходима расширяемость и гибкость</a:t>
            </a:r>
          </a:p>
          <a:p>
            <a:r>
              <a:rPr lang="ru-RU" altLang="ru-RU" sz="1800" dirty="0" smtClean="0"/>
              <a:t>Необходима интеграция с другими ресурсами в вебе</a:t>
            </a:r>
            <a:endParaRPr lang="ru-RU" altLang="ru-RU" sz="1800" dirty="0"/>
          </a:p>
        </p:txBody>
      </p:sp>
    </p:spTree>
    <p:extLst>
      <p:ext uri="{BB962C8B-B14F-4D97-AF65-F5344CB8AC3E}">
        <p14:creationId xmlns:p14="http://schemas.microsoft.com/office/powerpoint/2010/main" val="188818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Онтологическое моделирование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6138828"/>
            <a:ext cx="8229600" cy="608931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Источник: Гаврилова Т.А. Онтологическое моделирование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print"/>
          <a:srcRect l="20668" t="17719" r="17347" b="12458"/>
          <a:stretch/>
        </p:blipFill>
        <p:spPr>
          <a:xfrm>
            <a:off x="640330" y="1158773"/>
            <a:ext cx="7863339" cy="498005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076056" y="2636912"/>
            <a:ext cx="2448272" cy="936104"/>
          </a:xfrm>
          <a:prstGeom prst="rect">
            <a:avLst/>
          </a:prstGeom>
          <a:noFill/>
          <a:ln w="635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3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Языки онтологий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 smtClean="0"/>
              <a:t>Языки онтологий </a:t>
            </a:r>
            <a:r>
              <a:rPr lang="ru-RU" dirty="0"/>
              <a:t>условно можно разделить на две категории в зависимости от их выразительной мощности: </a:t>
            </a:r>
            <a:endParaRPr lang="ru-RU" dirty="0" smtClean="0"/>
          </a:p>
          <a:p>
            <a:r>
              <a:rPr lang="ru-RU" dirty="0" smtClean="0"/>
              <a:t>языки</a:t>
            </a:r>
            <a:r>
              <a:rPr lang="ru-RU" dirty="0"/>
              <a:t>, частично реализующие формализмы для построения </a:t>
            </a:r>
            <a:r>
              <a:rPr lang="ru-RU" dirty="0" smtClean="0"/>
              <a:t>онтологий</a:t>
            </a:r>
          </a:p>
          <a:p>
            <a:pPr lvl="1"/>
            <a:r>
              <a:rPr lang="en-US" dirty="0" smtClean="0"/>
              <a:t>UML</a:t>
            </a:r>
            <a:r>
              <a:rPr lang="ru-RU" dirty="0"/>
              <a:t>, </a:t>
            </a:r>
            <a:endParaRPr lang="ru-RU" dirty="0" smtClean="0"/>
          </a:p>
          <a:p>
            <a:pPr lvl="1"/>
            <a:r>
              <a:rPr lang="ru-RU" dirty="0" smtClean="0"/>
              <a:t>язык </a:t>
            </a:r>
            <a:r>
              <a:rPr lang="en-US" dirty="0"/>
              <a:t>ER</a:t>
            </a:r>
            <a:r>
              <a:rPr lang="ru-RU" dirty="0"/>
              <a:t>-диаграмм </a:t>
            </a:r>
            <a:endParaRPr lang="ru-RU" dirty="0" smtClean="0"/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R</a:t>
            </a:r>
            <a:r>
              <a:rPr lang="en-US" b="1" dirty="0" smtClean="0">
                <a:solidFill>
                  <a:srgbClr val="00B050"/>
                </a:solidFill>
              </a:rPr>
              <a:t>DFS</a:t>
            </a:r>
            <a:r>
              <a:rPr lang="ru-RU" b="1" dirty="0">
                <a:solidFill>
                  <a:srgbClr val="00B050"/>
                </a:solidFill>
              </a:rPr>
              <a:t>.</a:t>
            </a:r>
            <a:endParaRPr lang="ru-RU" b="1" dirty="0" smtClean="0">
              <a:solidFill>
                <a:srgbClr val="00B050"/>
              </a:solidFill>
            </a:endParaRPr>
          </a:p>
          <a:p>
            <a:r>
              <a:rPr lang="ru-RU" dirty="0" smtClean="0"/>
              <a:t> </a:t>
            </a:r>
            <a:r>
              <a:rPr lang="ru-RU" dirty="0"/>
              <a:t>языки в полной мере реализующие требуемые формализмы для разработки онтологий. </a:t>
            </a:r>
          </a:p>
          <a:p>
            <a:pPr lvl="1"/>
            <a:r>
              <a:rPr lang="ru-RU" b="1" dirty="0" smtClean="0">
                <a:solidFill>
                  <a:srgbClr val="00B050"/>
                </a:solidFill>
              </a:rPr>
              <a:t>Дескрипционные логики </a:t>
            </a:r>
            <a:r>
              <a:rPr lang="ru-RU" b="1" dirty="0">
                <a:solidFill>
                  <a:srgbClr val="00B050"/>
                </a:solidFill>
              </a:rPr>
              <a:t>и язык </a:t>
            </a:r>
            <a:r>
              <a:rPr lang="en-US" b="1" dirty="0">
                <a:solidFill>
                  <a:srgbClr val="00B050"/>
                </a:solidFill>
              </a:rPr>
              <a:t>OWL</a:t>
            </a:r>
            <a:r>
              <a:rPr lang="ru-RU" dirty="0">
                <a:solidFill>
                  <a:srgbClr val="00B050"/>
                </a:solidFill>
              </a:rPr>
              <a:t>, </a:t>
            </a:r>
            <a:endParaRPr lang="ru-RU" dirty="0" smtClean="0">
              <a:solidFill>
                <a:srgbClr val="00B050"/>
              </a:solidFill>
            </a:endParaRPr>
          </a:p>
          <a:p>
            <a:pPr lvl="1"/>
            <a:r>
              <a:rPr lang="en-US" dirty="0" err="1" smtClean="0"/>
              <a:t>CycL</a:t>
            </a:r>
            <a:r>
              <a:rPr lang="ru-RU" dirty="0"/>
              <a:t>, </a:t>
            </a:r>
            <a:r>
              <a:rPr lang="en-US" dirty="0" err="1"/>
              <a:t>Ontolingua</a:t>
            </a:r>
            <a:r>
              <a:rPr lang="ru-RU" dirty="0"/>
              <a:t>, </a:t>
            </a:r>
            <a:r>
              <a:rPr lang="en-US" dirty="0" err="1"/>
              <a:t>RuleML</a:t>
            </a:r>
            <a:r>
              <a:rPr lang="ru-RU" dirty="0"/>
              <a:t>, </a:t>
            </a:r>
            <a:r>
              <a:rPr lang="en-US" dirty="0"/>
              <a:t>KIF</a:t>
            </a:r>
            <a:r>
              <a:rPr lang="ru-RU" dirty="0"/>
              <a:t>, </a:t>
            </a:r>
            <a:r>
              <a:rPr lang="en-US" dirty="0"/>
              <a:t>Common Logic</a:t>
            </a:r>
            <a:r>
              <a:rPr lang="ru-RU" dirty="0"/>
              <a:t>, </a:t>
            </a:r>
            <a:r>
              <a:rPr lang="en-US" dirty="0"/>
              <a:t>DAML</a:t>
            </a:r>
            <a:r>
              <a:rPr lang="ru-RU" dirty="0"/>
              <a:t>+</a:t>
            </a:r>
            <a:r>
              <a:rPr lang="en-US" dirty="0"/>
              <a:t>OIL</a:t>
            </a:r>
            <a:r>
              <a:rPr lang="ru-RU" dirty="0" smtClean="0"/>
              <a:t>.</a:t>
            </a:r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454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Требования к языкам онтологий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r>
              <a:rPr lang="ru-RU" dirty="0" smtClean="0"/>
              <a:t>четко </a:t>
            </a:r>
            <a:r>
              <a:rPr lang="ru-RU" dirty="0"/>
              <a:t>определенный синтаксис,  </a:t>
            </a:r>
            <a:endParaRPr lang="en-US" dirty="0" smtClean="0"/>
          </a:p>
          <a:p>
            <a:r>
              <a:rPr lang="ru-RU" dirty="0" smtClean="0"/>
              <a:t>формальная </a:t>
            </a:r>
            <a:r>
              <a:rPr lang="ru-RU" dirty="0"/>
              <a:t>семантика, </a:t>
            </a:r>
            <a:endParaRPr lang="en-US" dirty="0" smtClean="0"/>
          </a:p>
          <a:p>
            <a:r>
              <a:rPr lang="ru-RU" dirty="0" smtClean="0">
                <a:solidFill>
                  <a:srgbClr val="FF0000"/>
                </a:solidFill>
              </a:rPr>
              <a:t>достаточная </a:t>
            </a:r>
            <a:r>
              <a:rPr lang="ru-RU" dirty="0">
                <a:solidFill>
                  <a:srgbClr val="FF0000"/>
                </a:solidFill>
              </a:rPr>
              <a:t>выразительная мощность</a:t>
            </a:r>
            <a:r>
              <a:rPr lang="ru-RU" dirty="0" smtClean="0"/>
              <a:t>,</a:t>
            </a:r>
            <a:endParaRPr lang="en-US" dirty="0" smtClean="0"/>
          </a:p>
          <a:p>
            <a:r>
              <a:rPr lang="ru-RU" dirty="0" smtClean="0"/>
              <a:t>удобство </a:t>
            </a:r>
            <a:r>
              <a:rPr lang="ru-RU" dirty="0"/>
              <a:t>выражения знаний </a:t>
            </a:r>
            <a:endParaRPr lang="en-US" dirty="0" smtClean="0"/>
          </a:p>
          <a:p>
            <a:r>
              <a:rPr lang="ru-RU" dirty="0" smtClean="0">
                <a:solidFill>
                  <a:srgbClr val="FF0000"/>
                </a:solidFill>
              </a:rPr>
              <a:t>эффективная </a:t>
            </a:r>
            <a:r>
              <a:rPr lang="ru-RU" dirty="0">
                <a:solidFill>
                  <a:srgbClr val="FF0000"/>
                </a:solidFill>
              </a:rPr>
              <a:t>поддержка логического вывода.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540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Диалекты языка </a:t>
            </a:r>
            <a:r>
              <a:rPr lang="en-US" dirty="0" smtClean="0"/>
              <a:t>OWL2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Полный набор требований для языка онтологий кажется </a:t>
            </a:r>
            <a:r>
              <a:rPr lang="ru-RU" dirty="0" smtClean="0"/>
              <a:t>недостижимым. </a:t>
            </a:r>
            <a:endParaRPr lang="en-US" dirty="0" smtClean="0"/>
          </a:p>
          <a:p>
            <a:r>
              <a:rPr lang="ru-RU" dirty="0" smtClean="0"/>
              <a:t>Эти </a:t>
            </a:r>
            <a:r>
              <a:rPr lang="ru-RU" dirty="0"/>
              <a:t>требования заставили рабочие группы W3C, разделить язык OWL2 на два различных диалекта, каждый из которых имеет собственную </a:t>
            </a:r>
            <a:r>
              <a:rPr lang="ru-RU" dirty="0" smtClean="0"/>
              <a:t>семантику</a:t>
            </a:r>
            <a:endParaRPr lang="en-US" dirty="0" smtClean="0"/>
          </a:p>
          <a:p>
            <a:pPr lvl="1"/>
            <a:r>
              <a:rPr lang="ru-RU" dirty="0"/>
              <a:t>OWL2 </a:t>
            </a:r>
            <a:r>
              <a:rPr lang="ru-RU" dirty="0" err="1" smtClean="0"/>
              <a:t>Full</a:t>
            </a:r>
            <a:endParaRPr lang="en-US" dirty="0" smtClean="0"/>
          </a:p>
          <a:p>
            <a:pPr lvl="1"/>
            <a:r>
              <a:rPr lang="ru-RU" dirty="0"/>
              <a:t>OWL2 </a:t>
            </a:r>
            <a:r>
              <a:rPr lang="ru-RU" dirty="0" smtClean="0"/>
              <a:t>DL </a:t>
            </a:r>
          </a:p>
          <a:p>
            <a:r>
              <a:rPr lang="ru-RU" dirty="0" smtClean="0"/>
              <a:t>Данные </a:t>
            </a:r>
            <a:r>
              <a:rPr lang="ru-RU" dirty="0"/>
              <a:t>диалекты реализуют различные аспекты полного набора требований к языку онтологий.</a:t>
            </a:r>
          </a:p>
          <a:p>
            <a:r>
              <a:rPr lang="ru-RU" dirty="0" smtClean="0"/>
              <a:t>В </a:t>
            </a:r>
            <a:r>
              <a:rPr lang="en-US" dirty="0" smtClean="0"/>
              <a:t>OWL</a:t>
            </a:r>
            <a:r>
              <a:rPr lang="ru-RU" dirty="0" smtClean="0"/>
              <a:t>2 три профиля с различной </a:t>
            </a:r>
            <a:r>
              <a:rPr lang="ru-RU" dirty="0" err="1" smtClean="0"/>
              <a:t>выразимостью</a:t>
            </a:r>
            <a:r>
              <a:rPr lang="ru-RU" dirty="0" smtClean="0"/>
              <a:t> и вычислительной сложностью.  </a:t>
            </a:r>
          </a:p>
          <a:p>
            <a:r>
              <a:rPr lang="en-US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546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Онтологическое моделирование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6138828"/>
            <a:ext cx="8229600" cy="608931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Источник: Гаврилова Т.А. Онтологическое моделирование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print"/>
          <a:srcRect l="20668" t="17719" r="17347" b="12458"/>
          <a:stretch/>
        </p:blipFill>
        <p:spPr>
          <a:xfrm>
            <a:off x="621904" y="1041233"/>
            <a:ext cx="8064896" cy="510770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148064" y="1716181"/>
            <a:ext cx="2448272" cy="936104"/>
          </a:xfrm>
          <a:prstGeom prst="rect">
            <a:avLst/>
          </a:prstGeom>
          <a:noFill/>
          <a:ln w="635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47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ru-RU" altLang="ru-RU" dirty="0" smtClean="0"/>
              <a:t>Процесс разработки онтологий</a:t>
            </a:r>
            <a:endParaRPr lang="en-US" altLang="ru-RU" dirty="0" smtClean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3380114"/>
              </p:ext>
            </p:extLst>
          </p:nvPr>
        </p:nvGraphicFramePr>
        <p:xfrm>
          <a:off x="107504" y="1052736"/>
          <a:ext cx="8579296" cy="54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785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551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Рассмотрение возможности повторного использования онтологий</a:t>
            </a:r>
            <a:br>
              <a:rPr lang="ru-RU" sz="4000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/>
              <a:t>Определение </a:t>
            </a:r>
            <a:r>
              <a:rPr lang="ru-RU" dirty="0"/>
              <a:t>онтологии редко </a:t>
            </a:r>
            <a:r>
              <a:rPr lang="ru-RU" dirty="0" smtClean="0"/>
              <a:t>начинают «с нуля». </a:t>
            </a:r>
          </a:p>
          <a:p>
            <a:r>
              <a:rPr lang="ru-RU" dirty="0" smtClean="0"/>
              <a:t>Для </a:t>
            </a:r>
            <a:r>
              <a:rPr lang="ru-RU" dirty="0"/>
              <a:t>поиска существующих онтологий можно пользоваться следующими инструментами:</a:t>
            </a:r>
          </a:p>
          <a:p>
            <a:pPr lvl="1"/>
            <a:r>
              <a:rPr lang="en-US" dirty="0"/>
              <a:t>Linked Open Vocabularies</a:t>
            </a:r>
            <a:r>
              <a:rPr lang="ru-RU" dirty="0"/>
              <a:t> (каталог открытых связанных словарей); http://lov.okfn.org/dataset/lov/;</a:t>
            </a:r>
          </a:p>
          <a:p>
            <a:pPr lvl="1"/>
            <a:r>
              <a:rPr lang="en-US" dirty="0"/>
              <a:t>C</a:t>
            </a:r>
            <a:r>
              <a:rPr lang="ru-RU" dirty="0" err="1"/>
              <a:t>ервис</a:t>
            </a:r>
            <a:r>
              <a:rPr lang="ru-RU" dirty="0"/>
              <a:t> статистика </a:t>
            </a:r>
            <a:r>
              <a:rPr lang="en-US" dirty="0"/>
              <a:t>LOD </a:t>
            </a:r>
            <a:r>
              <a:rPr lang="ru-RU" dirty="0"/>
              <a:t>http://</a:t>
            </a:r>
            <a:r>
              <a:rPr lang="ru-RU" dirty="0" smtClean="0"/>
              <a:t>stats.lod2.eu/vocabularies</a:t>
            </a:r>
            <a:endParaRPr lang="ru-RU" dirty="0"/>
          </a:p>
          <a:p>
            <a:pPr lvl="1"/>
            <a:r>
              <a:rPr lang="en-US" dirty="0" err="1"/>
              <a:t>Sindice</a:t>
            </a:r>
            <a:r>
              <a:rPr lang="ru-RU" dirty="0"/>
              <a:t>, </a:t>
            </a:r>
            <a:r>
              <a:rPr lang="en-US" dirty="0"/>
              <a:t>the Semantic Web Index </a:t>
            </a:r>
            <a:r>
              <a:rPr lang="ru-RU" dirty="0"/>
              <a:t>(поисковая система в семантическом вебе) http://sindice.com/main/about;</a:t>
            </a:r>
          </a:p>
          <a:p>
            <a:pPr lvl="1"/>
            <a:r>
              <a:rPr lang="ru-RU" dirty="0"/>
              <a:t>Сервис </a:t>
            </a:r>
            <a:r>
              <a:rPr lang="en-US" dirty="0" err="1"/>
              <a:t>SameAs</a:t>
            </a:r>
            <a:r>
              <a:rPr lang="ru-RU" dirty="0"/>
              <a:t>.</a:t>
            </a:r>
            <a:r>
              <a:rPr lang="en-US" dirty="0"/>
              <a:t>org</a:t>
            </a:r>
            <a:r>
              <a:rPr lang="ru-RU" dirty="0"/>
              <a:t> (http://www.sameas.org) для поиска эквивалентных </a:t>
            </a:r>
            <a:r>
              <a:rPr lang="en-US" dirty="0"/>
              <a:t>IRI</a:t>
            </a:r>
            <a:r>
              <a:rPr lang="ru-RU" dirty="0"/>
              <a:t>;</a:t>
            </a:r>
          </a:p>
          <a:p>
            <a:pPr lvl="1"/>
            <a:r>
              <a:rPr lang="ru-RU" dirty="0"/>
              <a:t>Каталог </a:t>
            </a:r>
            <a:r>
              <a:rPr lang="ru-RU" dirty="0" smtClean="0"/>
              <a:t>связанных </a:t>
            </a:r>
            <a:r>
              <a:rPr lang="ru-RU" dirty="0"/>
              <a:t>данных </a:t>
            </a:r>
            <a:r>
              <a:rPr lang="en-US" dirty="0" err="1"/>
              <a:t>DataHub</a:t>
            </a:r>
            <a:r>
              <a:rPr lang="en-US" dirty="0"/>
              <a:t> </a:t>
            </a:r>
            <a:r>
              <a:rPr lang="ru-RU" dirty="0"/>
              <a:t>http://datahub.io/;</a:t>
            </a:r>
          </a:p>
          <a:p>
            <a:pPr lvl="1"/>
            <a:r>
              <a:rPr lang="ru-RU" dirty="0"/>
              <a:t>Проект </a:t>
            </a:r>
            <a:r>
              <a:rPr lang="ru-RU" dirty="0" err="1"/>
              <a:t>Swoogle</a:t>
            </a:r>
            <a:r>
              <a:rPr lang="ru-RU" dirty="0"/>
              <a:t> </a:t>
            </a:r>
            <a:r>
              <a:rPr lang="ru-RU" dirty="0">
                <a:hlinkClick r:id="rId2"/>
              </a:rPr>
              <a:t>http://swoogle.umbc.edu/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794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 fontScale="90000"/>
          </a:bodyPr>
          <a:lstStyle/>
          <a:p>
            <a:r>
              <a:rPr lang="ru-RU" dirty="0"/>
              <a:t>Определение экземпляров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Создание онтологии </a:t>
            </a:r>
            <a:r>
              <a:rPr lang="ru-RU" dirty="0" smtClean="0"/>
              <a:t>не </a:t>
            </a:r>
            <a:r>
              <a:rPr lang="ru-RU" dirty="0"/>
              <a:t>является самоцелью. </a:t>
            </a:r>
            <a:endParaRPr lang="ru-RU" dirty="0" smtClean="0"/>
          </a:p>
          <a:p>
            <a:r>
              <a:rPr lang="ru-RU" dirty="0" smtClean="0"/>
              <a:t>На </a:t>
            </a:r>
            <a:r>
              <a:rPr lang="ru-RU" dirty="0"/>
              <a:t>практике онтологии используются для организации связей между конкретными сущностями, т.е. экземплярами классов. </a:t>
            </a:r>
            <a:endParaRPr lang="ru-RU" dirty="0" smtClean="0"/>
          </a:p>
          <a:p>
            <a:r>
              <a:rPr lang="ru-RU" dirty="0" smtClean="0"/>
              <a:t>Как </a:t>
            </a:r>
            <a:r>
              <a:rPr lang="ru-RU" dirty="0"/>
              <a:t>правило, число экземпляров в онтологии </a:t>
            </a:r>
            <a:r>
              <a:rPr lang="ru-RU" dirty="0">
                <a:solidFill>
                  <a:srgbClr val="FF0000"/>
                </a:solidFill>
              </a:rPr>
              <a:t>на несколько порядков больше</a:t>
            </a:r>
            <a:r>
              <a:rPr lang="ru-RU" dirty="0"/>
              <a:t>, чем число классов. </a:t>
            </a:r>
            <a:endParaRPr lang="ru-RU" dirty="0" smtClean="0"/>
          </a:p>
          <a:p>
            <a:r>
              <a:rPr lang="ru-RU" dirty="0" smtClean="0"/>
              <a:t>Размер </a:t>
            </a:r>
            <a:r>
              <a:rPr lang="ru-RU" dirty="0"/>
              <a:t>онтологий варьируются от нескольких сотен до десятков тысяч классов, и от сотен до сотен тысяч и более экземпляров.</a:t>
            </a:r>
          </a:p>
          <a:p>
            <a:r>
              <a:rPr lang="ru-RU" dirty="0"/>
              <a:t>Учитывая большое количество экземпляров, наполнение онтологии, как правило, осуществляется не вручную. </a:t>
            </a:r>
            <a:endParaRPr lang="ru-RU" dirty="0" smtClean="0"/>
          </a:p>
          <a:p>
            <a:r>
              <a:rPr lang="ru-RU" dirty="0" smtClean="0"/>
              <a:t>Часто</a:t>
            </a:r>
            <a:r>
              <a:rPr lang="ru-RU" dirty="0"/>
              <a:t>, экземпляры извлекаются из унаследованных источников данных, например, баз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140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конвертации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</a:t>
            </a:r>
            <a:r>
              <a:rPr lang="ru-RU" dirty="0"/>
              <a:t>3</a:t>
            </a:r>
            <a:r>
              <a:rPr lang="en-US" dirty="0"/>
              <a:t>C Relational Database to RDF Incubator Group</a:t>
            </a:r>
            <a:endParaRPr lang="ru-RU" dirty="0" smtClean="0"/>
          </a:p>
          <a:p>
            <a:r>
              <a:rPr lang="ru-RU" dirty="0" smtClean="0"/>
              <a:t>Инструменты </a:t>
            </a:r>
            <a:r>
              <a:rPr lang="en-US" dirty="0" smtClean="0"/>
              <a:t>RD2RDF </a:t>
            </a:r>
            <a:r>
              <a:rPr lang="ru-RU" dirty="0" smtClean="0"/>
              <a:t>могут </a:t>
            </a:r>
            <a:r>
              <a:rPr lang="ru-RU" dirty="0"/>
              <a:t>использоваться двумя способами. </a:t>
            </a:r>
            <a:endParaRPr lang="ru-RU" dirty="0" smtClean="0"/>
          </a:p>
          <a:p>
            <a:pPr lvl="1"/>
            <a:r>
              <a:rPr lang="ru-RU" dirty="0" smtClean="0"/>
              <a:t>Первый </a:t>
            </a:r>
            <a:r>
              <a:rPr lang="ru-RU" dirty="0"/>
              <a:t>способ предполагает преобразования реляционной базы данных непосредственно при выполнении запроса в точке доступа SPARQL</a:t>
            </a:r>
            <a:r>
              <a:rPr lang="ru-RU" dirty="0" smtClean="0"/>
              <a:t>.</a:t>
            </a:r>
          </a:p>
          <a:p>
            <a:pPr lvl="1"/>
            <a:r>
              <a:rPr lang="ru-RU" dirty="0" smtClean="0"/>
              <a:t> </a:t>
            </a:r>
            <a:r>
              <a:rPr lang="ru-RU" dirty="0"/>
              <a:t>Второй способ </a:t>
            </a:r>
            <a:r>
              <a:rPr lang="ru-RU" dirty="0" smtClean="0"/>
              <a:t>заключается </a:t>
            </a:r>
            <a:r>
              <a:rPr lang="ru-RU" dirty="0"/>
              <a:t>в преобразовании всей базы данных в RDF-документы, которые затем можно загрузить в хранилище триплетов. Этот способ часто используется для интеграции экземпляров в существующую онтологию. </a:t>
            </a:r>
            <a:endParaRPr lang="ru-RU" dirty="0" smtClean="0"/>
          </a:p>
          <a:p>
            <a:r>
              <a:rPr lang="ru-RU" dirty="0" smtClean="0"/>
              <a:t>Хорошим </a:t>
            </a:r>
            <a:r>
              <a:rPr lang="ru-RU" dirty="0"/>
              <a:t>инструментом для начинающих разработчиков является D2R </a:t>
            </a:r>
            <a:r>
              <a:rPr lang="en-US" dirty="0"/>
              <a:t>Server</a:t>
            </a:r>
            <a:r>
              <a:rPr lang="ru-RU" dirty="0"/>
              <a:t>, поскольку он в довольно простом пакете предоставляет оба способа конвертации. </a:t>
            </a:r>
            <a:endParaRPr lang="ru-RU" dirty="0" smtClean="0"/>
          </a:p>
          <a:p>
            <a:r>
              <a:rPr lang="ru-RU" dirty="0"/>
              <a:t>Кроме того, можно конвертировать данные в </a:t>
            </a:r>
            <a:r>
              <a:rPr lang="en-US" dirty="0"/>
              <a:t>RDF</a:t>
            </a:r>
            <a:r>
              <a:rPr lang="ru-RU" dirty="0"/>
              <a:t>-формат и из других типов источников http://www.w3.org/wiki/ConverterToRdf.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069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Онтологическое моделирование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6138828"/>
            <a:ext cx="8229600" cy="608931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Источник: Гаврилова Т.А. Онтологическое моделирование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print"/>
          <a:srcRect l="20668" t="17719" r="17347" b="12458"/>
          <a:stretch/>
        </p:blipFill>
        <p:spPr>
          <a:xfrm>
            <a:off x="488232" y="1031122"/>
            <a:ext cx="8064896" cy="510770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076056" y="1031122"/>
            <a:ext cx="2664296" cy="813702"/>
          </a:xfrm>
          <a:prstGeom prst="rect">
            <a:avLst/>
          </a:prstGeom>
          <a:noFill/>
          <a:ln w="635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854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Полуавтоматическое построение </a:t>
            </a:r>
            <a:r>
              <a:rPr lang="ru-RU" dirty="0" smtClean="0"/>
              <a:t>онтологий</a:t>
            </a:r>
            <a:endParaRPr lang="en-US" dirty="0" smtClean="0"/>
          </a:p>
          <a:p>
            <a:r>
              <a:rPr lang="ru-RU" dirty="0" smtClean="0"/>
              <a:t>Наполнение онтологий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 smtClean="0"/>
              <a:t>Пример подхода к решению:</a:t>
            </a:r>
          </a:p>
          <a:p>
            <a:r>
              <a:rPr lang="ru-RU" dirty="0" smtClean="0"/>
              <a:t>Извлечение терминов из текста (статические методы</a:t>
            </a:r>
            <a:r>
              <a:rPr lang="en-US" dirty="0" smtClean="0"/>
              <a:t>: c-value, k-factor </a:t>
            </a:r>
            <a:r>
              <a:rPr lang="ru-RU" dirty="0" smtClean="0"/>
              <a:t>и др.)</a:t>
            </a:r>
          </a:p>
          <a:p>
            <a:r>
              <a:rPr lang="ru-RU" dirty="0" smtClean="0"/>
              <a:t>Разработка </a:t>
            </a:r>
            <a:r>
              <a:rPr lang="en-US" dirty="0" smtClean="0"/>
              <a:t>LSPL-</a:t>
            </a:r>
            <a:r>
              <a:rPr lang="ru-RU" dirty="0" smtClean="0"/>
              <a:t>шаблонов на основе коммуникационных грамматик и предметной области</a:t>
            </a:r>
          </a:p>
          <a:p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endParaRPr lang="ru-RU" dirty="0" smtClean="0"/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5132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Отображение</a:t>
            </a:r>
            <a:r>
              <a:rPr lang="en-US" dirty="0"/>
              <a:t>/</a:t>
            </a:r>
            <a:r>
              <a:rPr lang="ru-RU" dirty="0"/>
              <a:t>интеграция </a:t>
            </a:r>
            <a:r>
              <a:rPr lang="ru-RU" dirty="0" smtClean="0"/>
              <a:t>онтологий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b="1" dirty="0" smtClean="0">
                <a:solidFill>
                  <a:srgbClr val="00B050"/>
                </a:solidFill>
              </a:rPr>
              <a:t>Проблемы</a:t>
            </a:r>
            <a:endParaRPr lang="ru-RU" b="1" dirty="0">
              <a:solidFill>
                <a:srgbClr val="00B050"/>
              </a:solidFill>
            </a:endParaRPr>
          </a:p>
          <a:p>
            <a:r>
              <a:rPr lang="ru-RU" dirty="0" smtClean="0"/>
              <a:t>Сущности </a:t>
            </a:r>
            <a:r>
              <a:rPr lang="ru-RU" dirty="0"/>
              <a:t>(классы, свойства, связи, объекты) имеющие одинаковые имена могут иметь разный смысл</a:t>
            </a:r>
          </a:p>
          <a:p>
            <a:r>
              <a:rPr lang="ru-RU" dirty="0" smtClean="0"/>
              <a:t>Сущности </a:t>
            </a:r>
            <a:r>
              <a:rPr lang="ru-RU" dirty="0"/>
              <a:t>(классы, свойства, связи, объекты) имеющие одинаковый смысл могут иметь разные </a:t>
            </a:r>
            <a:r>
              <a:rPr lang="ru-RU" dirty="0" smtClean="0"/>
              <a:t>имена</a:t>
            </a:r>
          </a:p>
          <a:p>
            <a:pPr marL="0" indent="0" algn="ctr">
              <a:buNone/>
            </a:pPr>
            <a:endParaRPr lang="ru-RU" b="1" dirty="0" smtClean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00B050"/>
                </a:solidFill>
              </a:rPr>
              <a:t>Методы решения</a:t>
            </a:r>
            <a:endParaRPr lang="ru-RU" b="1" dirty="0">
              <a:solidFill>
                <a:srgbClr val="00B050"/>
              </a:solidFill>
            </a:endParaRPr>
          </a:p>
          <a:p>
            <a:pPr lvl="1"/>
            <a:r>
              <a:rPr lang="ru-RU" dirty="0" smtClean="0"/>
              <a:t>Лингвистические </a:t>
            </a:r>
            <a:r>
              <a:rPr lang="ru-RU" dirty="0"/>
              <a:t>методы</a:t>
            </a:r>
          </a:p>
          <a:p>
            <a:pPr lvl="1"/>
            <a:r>
              <a:rPr lang="ru-RU" dirty="0"/>
              <a:t>Статические методы</a:t>
            </a:r>
          </a:p>
          <a:p>
            <a:pPr lvl="1"/>
            <a:r>
              <a:rPr lang="ru-RU" dirty="0"/>
              <a:t>Структурные методы</a:t>
            </a:r>
          </a:p>
          <a:p>
            <a:pPr lvl="1"/>
            <a:r>
              <a:rPr lang="ru-RU" dirty="0"/>
              <a:t>Логические методы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5325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dirty="0" smtClean="0"/>
              <a:t>Вопросы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ru-RU" sz="2800" dirty="0" smtClean="0"/>
              <a:t>Шульга Татьяна </a:t>
            </a:r>
            <a:r>
              <a:rPr lang="ru-RU" sz="2800" dirty="0" err="1" smtClean="0"/>
              <a:t>Эриковна</a:t>
            </a:r>
            <a:endParaRPr lang="ru-RU" sz="2800" dirty="0" smtClean="0"/>
          </a:p>
          <a:p>
            <a:pPr marL="0" indent="0" algn="ctr">
              <a:buNone/>
            </a:pPr>
            <a:r>
              <a:rPr lang="en-US" sz="2800" dirty="0" smtClean="0"/>
              <a:t>shulga@sstu.ru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321214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3956</TotalTime>
  <Words>1135</Words>
  <Application>Microsoft Office PowerPoint</Application>
  <PresentationFormat>Экран (4:3)</PresentationFormat>
  <Paragraphs>178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Calibri</vt:lpstr>
      <vt:lpstr>Times New Roman</vt:lpstr>
      <vt:lpstr>Verdana</vt:lpstr>
      <vt:lpstr>Wingdings</vt:lpstr>
      <vt:lpstr>Тема Office</vt:lpstr>
      <vt:lpstr> Онтологическое моделирование: проблемы и перспективы</vt:lpstr>
      <vt:lpstr>Содержание</vt:lpstr>
      <vt:lpstr>Презентация PowerPoint</vt:lpstr>
      <vt:lpstr>Пересечение областей знаний</vt:lpstr>
      <vt:lpstr>Онтология в информатике</vt:lpstr>
      <vt:lpstr>Онтология: аксиомы и факты</vt:lpstr>
      <vt:lpstr>Пример онтологии: аксиомы и факты</vt:lpstr>
      <vt:lpstr>Онтологии и базы данных: Различия</vt:lpstr>
      <vt:lpstr>Онтологии и базы данных: Запросы</vt:lpstr>
      <vt:lpstr>Онтологии и базы данных: Использование в информационных системах</vt:lpstr>
      <vt:lpstr>Онтологическое моделирование</vt:lpstr>
      <vt:lpstr>Языки онтологий</vt:lpstr>
      <vt:lpstr>Требования к языкам онтологий </vt:lpstr>
      <vt:lpstr>Диалекты языка OWL2</vt:lpstr>
      <vt:lpstr>Онтологическое моделирование</vt:lpstr>
      <vt:lpstr>Процесс разработки онтологий</vt:lpstr>
      <vt:lpstr>Рассмотрение возможности повторного использования онтологий </vt:lpstr>
      <vt:lpstr>Определение экземпляров </vt:lpstr>
      <vt:lpstr>Инструменты конвертации </vt:lpstr>
      <vt:lpstr>Онтологическое моделирование</vt:lpstr>
      <vt:lpstr>Проблемы</vt:lpstr>
      <vt:lpstr>Отображение/интеграция онтологий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Semantic Web</dc:title>
  <dc:creator>user</dc:creator>
  <cp:lastModifiedBy>Tatiana Shulga</cp:lastModifiedBy>
  <cp:revision>188</cp:revision>
  <dcterms:created xsi:type="dcterms:W3CDTF">2014-11-20T08:58:15Z</dcterms:created>
  <dcterms:modified xsi:type="dcterms:W3CDTF">2017-09-28T20:10:13Z</dcterms:modified>
</cp:coreProperties>
</file>